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Helvetica Neue"/>
      <p:regular r:id="rId21"/>
      <p:bold r:id="rId22"/>
      <p:italic r:id="rId23"/>
      <p:boldItalic r:id="rId24"/>
    </p:embeddedFont>
    <p:embeddedFont>
      <p:font typeface="Helvetica Neue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bold.fntdata"/><Relationship Id="rId25" Type="http://schemas.openxmlformats.org/officeDocument/2006/relationships/font" Target="fonts/HelveticaNeueLight-regular.fntdata"/><Relationship Id="rId28" Type="http://schemas.openxmlformats.org/officeDocument/2006/relationships/font" Target="fonts/HelveticaNeueLight-boldItalic.fntdata"/><Relationship Id="rId27" Type="http://schemas.openxmlformats.org/officeDocument/2006/relationships/font" Target="fonts/HelveticaNe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96243ba7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c96243ba7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96243ba7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c96243ba7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96243ba7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96243ba7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96243ba74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c96243ba74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96243ba74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96243ba74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96b8f002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96b8f002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96b8f002f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96b8f002f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96b8f002f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c96b8f002f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96b8f002f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96b8f002f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96b8f002f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96b8f002f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96b8f002f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c96b8f002f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96b8f002f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96b8f002f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96b8f002f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96b8f002f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844150" y="4710224"/>
            <a:ext cx="10515600" cy="552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42108" l="31992" r="32032" t="42026"/>
          <a:stretch/>
        </p:blipFill>
        <p:spPr>
          <a:xfrm>
            <a:off x="7430948" y="751519"/>
            <a:ext cx="3928803" cy="13332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44150" y="3784993"/>
            <a:ext cx="105159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 b="38397" l="29655" r="29479" t="38311"/>
          <a:stretch/>
        </p:blipFill>
        <p:spPr>
          <a:xfrm>
            <a:off x="358814" y="6038948"/>
            <a:ext cx="1365809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○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■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●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○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38397" l="29655" r="29479" t="38311"/>
          <a:stretch/>
        </p:blipFill>
        <p:spPr>
          <a:xfrm>
            <a:off x="358814" y="6038948"/>
            <a:ext cx="1365809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844150" y="4710226"/>
            <a:ext cx="10515600" cy="901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CSE 400 – Fundamentals of Probability in Computing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SEAS, Ahmedabad University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444848"/>
              </a:buClr>
              <a:buSzPct val="100000"/>
              <a:buFont typeface="Helvetica Neue Light"/>
              <a:buNone/>
            </a:pPr>
            <a:r>
              <a:rPr lang="en-US"/>
              <a:t>Milestone-2</a:t>
            </a:r>
            <a:endParaRPr/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4400"/>
              <a:buFont typeface="Helvetica Neue"/>
              <a:buNone/>
            </a:pPr>
            <a:r>
              <a:rPr lang="en-US"/>
              <a:t>Probabilistic Precipitation Nowcasting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731250" y="7875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831850" y="2073600"/>
            <a:ext cx="105156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Deterministic atmospheric models fail due to chaos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Error grows unbounded for lead time τ &gt; 0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QPN requires probabilistic formulation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Goal: Construct continuous predictive PDFs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697725" y="8378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/>
              <a:t>Probabilistic Reformulation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838200" y="2073600"/>
            <a:ext cx="105156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Define probability space: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Spatial domain: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Time horizon: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Objective: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875" y="2499875"/>
            <a:ext cx="15716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3650" y="3455675"/>
            <a:ext cx="1162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7450" y="4447700"/>
            <a:ext cx="13144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6013" y="5316875"/>
            <a:ext cx="16573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731250" y="7875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/>
              <a:t>The Foundational Triad Model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831850" y="2073600"/>
            <a:ext cx="105156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interacting random fields: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R(x,t)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Rainfall intensity</a:t>
            </a:r>
            <a:b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V(x,t)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Advection vector field</a:t>
            </a:r>
            <a:b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N(x,t)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Stochastic innovation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138" y="4639200"/>
            <a:ext cx="2714625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731250" y="7875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/>
              <a:t>Log-Normal Transformation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838200" y="2146200"/>
            <a:ext cx="10515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Raw rainfall is skewed.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Transform: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Multivariate Gaussian PDF: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900" y="2822125"/>
            <a:ext cx="36861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3313" y="3603175"/>
            <a:ext cx="31813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8700" y="4767713"/>
            <a:ext cx="657225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Advection Field Modeling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Optical Flow PDE: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ill-posed → structural uncertainty.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2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563" y="2355550"/>
            <a:ext cx="25622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575" y="4542063"/>
            <a:ext cx="35433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Spatially Correlated Innovation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White noise destroys coherence.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 sz="2000">
                <a:solidFill>
                  <a:schemeClr val="dk1"/>
                </a:solidFill>
              </a:rPr>
              <a:t>Isotropic covariance: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 sz="2000">
                <a:solidFill>
                  <a:schemeClr val="dk1"/>
                </a:solidFill>
              </a:rPr>
              <a:t>where h=∣∣x−x′∣∣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050" y="2650513"/>
            <a:ext cx="3675882" cy="7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7275" y="4304450"/>
            <a:ext cx="4061425" cy="77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Discrete State Transition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SPDE to discrete form: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Markov Property: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300" y="2240800"/>
            <a:ext cx="6106850" cy="7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4550" y="3837675"/>
            <a:ext cx="439102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Temporal Memory (AR(2))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Noise evolution: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Ensures: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Stationarity</a:t>
            </a:r>
            <a:b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Mesoscale memory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600" y="2260325"/>
            <a:ext cx="4858800" cy="6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Spectral Simulation (FFT)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covariance sampling: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 use Wiener–Khinchin: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/>
              <a:t>Complexity:    </a:t>
            </a:r>
            <a:endParaRPr/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242" y="2459175"/>
            <a:ext cx="1263655" cy="51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2724" y="3837675"/>
            <a:ext cx="4586559" cy="5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8675" y="5387000"/>
            <a:ext cx="14668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Monte Carlo Ensemble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M i.i.d. trajectories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Estimator: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WLLN: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2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050" y="2602622"/>
            <a:ext cx="2877900" cy="1235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276" y="4632625"/>
            <a:ext cx="2463425" cy="8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PDF &amp; CDF Evolution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594302" y="2173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Monte Carlo gives empirical: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PDF → histogram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/>
              <a:t>CDF →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/>
              <a:t>Variance increases with τ.</a:t>
            </a:r>
            <a:endParaRPr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122" y="3337866"/>
            <a:ext cx="4599602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Chebyshev Bound 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M i.i.d. trajectories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Forecast uncertainty expands over time.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2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001" y="2522400"/>
            <a:ext cx="7246156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Limitations</a:t>
            </a:r>
            <a:r>
              <a:rPr lang="en-US" sz="3600">
                <a:solidFill>
                  <a:srgbClr val="7F7F7F"/>
                </a:solidFill>
              </a:rPr>
              <a:t> 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Frozen advection field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Stationary noise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Zero-inflation anomaly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Gaussian tail limitations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FFT boundary artifacts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2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Future Work</a:t>
            </a:r>
            <a:r>
              <a:rPr lang="en-US" sz="3600">
                <a:solidFill>
                  <a:srgbClr val="7F7F7F"/>
                </a:solidFill>
              </a:rPr>
              <a:t> 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Stochastic V(x,t)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Heteroscedastic covariance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Tobit censoring model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Extreme Value calibration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padding for FFT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3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F7F7F"/>
                </a:solidFill>
              </a:rPr>
              <a:t>Conclusion</a:t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Rainfall modeled as stochastic dynamic field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Continuous predictive PDFs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Ensemble-based uncertainty quantification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Computationally tractable via FFT + Monte Carlo</a:t>
            </a:r>
            <a:b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Probabilistic modeling enables robust risk assessment.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3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