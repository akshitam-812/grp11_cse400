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Helvetica Neue"/>
      <p:regular r:id="rId28"/>
      <p:bold r:id="rId29"/>
      <p:italic r:id="rId30"/>
      <p:boldItalic r:id="rId31"/>
    </p:embeddedFont>
    <p:embeddedFont>
      <p:font typeface="Helvetica Neue Ligh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9348D3-91E0-44B1-AF93-2B64AD6CBAFE}">
  <a:tblStyle styleId="{379348D3-91E0-44B1-AF93-2B64AD6CBAF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HelveticaNeue-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Italic.fntdata"/><Relationship Id="rId30" Type="http://schemas.openxmlformats.org/officeDocument/2006/relationships/font" Target="fonts/HelveticaNeue-italic.fntdata"/><Relationship Id="rId11" Type="http://schemas.openxmlformats.org/officeDocument/2006/relationships/slide" Target="slides/slide6.xml"/><Relationship Id="rId33" Type="http://schemas.openxmlformats.org/officeDocument/2006/relationships/font" Target="fonts/HelveticaNeueLight-bold.fntdata"/><Relationship Id="rId10" Type="http://schemas.openxmlformats.org/officeDocument/2006/relationships/slide" Target="slides/slide5.xml"/><Relationship Id="rId32" Type="http://schemas.openxmlformats.org/officeDocument/2006/relationships/font" Target="fonts/HelveticaNeueLight-regular.fntdata"/><Relationship Id="rId13" Type="http://schemas.openxmlformats.org/officeDocument/2006/relationships/slide" Target="slides/slide8.xml"/><Relationship Id="rId35" Type="http://schemas.openxmlformats.org/officeDocument/2006/relationships/font" Target="fonts/HelveticaNeueLight-boldItalic.fntdata"/><Relationship Id="rId12" Type="http://schemas.openxmlformats.org/officeDocument/2006/relationships/slide" Target="slides/slide7.xml"/><Relationship Id="rId34" Type="http://schemas.openxmlformats.org/officeDocument/2006/relationships/font" Target="fonts/HelveticaNeueLight-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e04cb7004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e04cb7004_1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3de04cb7004_1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dffe2be9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dffe2be9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g3ddffe2be9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dffe2be9a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dffe2be9a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g3ddffe2be9a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ccaad06f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ccaad06f1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g3dccaad06f1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36f9e16a4_5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36f9e16a4_5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d36f9e16a4_5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ca9581416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dca9581416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dca9581416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dffe2be9a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dffe2be9a_1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3ddffe2be9a_1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36f9e16a4_5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36f9e16a4_5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d36f9e16a4_5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dffe2be9a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ddffe2be9a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ddffe2be9a_0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dffe2be9a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dffe2be9a_0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ddffe2be9a_0_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36bcd4f82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d36bcd4f82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dffe2be9a_0_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ddffe2be9a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dffe2be9a_0_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Now I'll walk you through how we actually implemented everything we've been discussing theoretically.</a:t>
            </a:r>
            <a:endParaRPr/>
          </a:p>
          <a:p>
            <a:pPr indent="0" lvl="0" marL="0" rtl="0" algn="l">
              <a:lnSpc>
                <a:spcPct val="115000"/>
              </a:lnSpc>
              <a:spcBef>
                <a:spcPts val="1200"/>
              </a:spcBef>
              <a:spcAft>
                <a:spcPts val="0"/>
              </a:spcAft>
              <a:buClr>
                <a:schemeClr val="dk1"/>
              </a:buClr>
              <a:buSzPts val="1100"/>
              <a:buFont typeface="Arial"/>
              <a:buNone/>
            </a:pPr>
            <a:r>
              <a:rPr lang="en-US"/>
              <a:t>For our implementation, we used Python as the primary language, along with PySTEPS — which is an open-source library specifically built for short-term precipitation nowcasting. We also used NumPy for numerical operations and Matplotlib for all our visualizations.</a:t>
            </a:r>
            <a:endParaRPr/>
          </a:p>
          <a:p>
            <a:pPr indent="0" lvl="0" marL="0" rtl="0" algn="l">
              <a:lnSpc>
                <a:spcPct val="115000"/>
              </a:lnSpc>
              <a:spcBef>
                <a:spcPts val="1200"/>
              </a:spcBef>
              <a:spcAft>
                <a:spcPts val="0"/>
              </a:spcAft>
              <a:buClr>
                <a:schemeClr val="dk1"/>
              </a:buClr>
              <a:buSzPts val="1100"/>
              <a:buFont typeface="Arial"/>
              <a:buNone/>
            </a:pPr>
            <a:r>
              <a:rPr lang="en-US"/>
              <a:t>For input data, we used radar precipitation images organized as a time-series. Structurally, this is a 3D array — where the three dimensions are time, height, and width. So each 'frame' in the array is essentially a snapshot of the precipitation field captured by radar at a given moment in time. Having multiple frames in sequence is what allows us to estimate how the storm is moving.</a:t>
            </a:r>
            <a:endParaRPr/>
          </a:p>
          <a:p>
            <a:pPr indent="0" lvl="0" marL="0" rtl="0" algn="l">
              <a:spcBef>
                <a:spcPts val="1200"/>
              </a:spcBef>
              <a:spcAft>
                <a:spcPts val="0"/>
              </a:spcAft>
              <a:buNone/>
            </a:pPr>
            <a:r>
              <a:t/>
            </a:r>
            <a:endParaRPr/>
          </a:p>
        </p:txBody>
      </p:sp>
      <p:sp>
        <p:nvSpPr>
          <p:cNvPr id="208" name="Google Shape;208;g3ddffe2be9a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36bcd4f82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Moving to the implementation steps — the first thing we did was motion estimation using DARTS, which stands for Dense Advection from Radar Time Series. This gives us the velocity field V(x,t) — essentially telling us in which direction and how fast the precipitation is moving across the radar grid.Once we had the motion field, we ran two separate forecast pipelines from the same input data.The first was the deterministic approach — using simple Semi-Lagrangian extrapolation. This just takes the current radar field and advects it forward in time using the motion vectors. No noise, no randomness — one single forecast output.The second was the probabilistic approach — using STEPS, which adds stochastic noise at each cascade level and generates an ensemble of possible futures rather than just one.For our simulation setup, we set the forecast horizon between 5 and 60 minutes, and generated an ensemble of 10 to 20 members for the probabilistic runs. The goal was to directly compare Extrapolation versus STEPS on the same data</a:t>
            </a:r>
            <a:endParaRPr/>
          </a:p>
          <a:p>
            <a:pPr indent="0" lvl="0" marL="0" rtl="0" algn="l">
              <a:spcBef>
                <a:spcPts val="1200"/>
              </a:spcBef>
              <a:spcAft>
                <a:spcPts val="0"/>
              </a:spcAft>
              <a:buNone/>
            </a:pPr>
            <a:r>
              <a:t/>
            </a:r>
            <a:endParaRPr/>
          </a:p>
        </p:txBody>
      </p:sp>
      <p:sp>
        <p:nvSpPr>
          <p:cNvPr id="216" name="Google Shape;216;g3d36bcd4f82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36bcd4f82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1200"/>
              </a:spcAft>
              <a:buNone/>
            </a:pPr>
            <a:r>
              <a:rPr lang="en-US"/>
              <a:t>Now let's talk about what we actually observed. Visually, the difference between the two methods was very clear. The extrapolation output was smooth and produced a single, clean forecast image — but that single image gives you no idea of how confident the model is, or what alternative scenarios might occur.STEPS, on the other hand, produced multiple realistic-looking forecast fields — each ensemble member is a plausible future state of the atmosphere. The variability across those members is itself informative — high spread means low confidence, low spread means the model is more certain.Looking at the comparison table: Extrapolation is deterministic, outputs a single image, captures no uncertainty, and has low realism. STEPS is probabilistic, outputs multiple ensemble members, captures uncertainty explicitly, and has much higher realism. This is the fundamental trade-off — STEPS is computationally more expensive, but it gives decision-makers far more actionable information.</a:t>
            </a:r>
            <a:endParaRPr/>
          </a:p>
        </p:txBody>
      </p:sp>
      <p:sp>
        <p:nvSpPr>
          <p:cNvPr id="224" name="Google Shape;224;g3d36bcd4f82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ddffe2be9a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ddffe2be9a_0_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1200"/>
              </a:spcAft>
              <a:buNone/>
            </a:pPr>
            <a:r>
              <a:rPr lang="en-US" sz="1100">
                <a:latin typeface="Arial"/>
                <a:ea typeface="Arial"/>
                <a:cs typeface="Arial"/>
                <a:sym typeface="Arial"/>
              </a:rPr>
              <a:t>This bar chart directly compares the two approaches across four metrics — MSE, Reliability, Uncertainty Modeling, and Robustness.Starting with MSE — lower is better here. The deterministic Lagrangian approach scores 0.85, while STEPS scores 0.75. So the deterministic method actually has a slightly lower mean squared error in terms of point accuracy. This makes sense — a single best-guess forecast can sometimes be closer to the actual observation than the mean of a spread-out ensemble.But look at Reliability — this is where STEPS dominates, scoring 0.85 versus only 0.30 for the deterministic approach. Reliability here means: when the model says there's a 70% chance of rain, does it actually rain 70% of the time? STEPS is well-calibrated in this sense; the deterministic model is not, because it doesn't even express probability.Uncertainty Modeling is perhaps the starkest contrast — STEPS scores 0.90, while deterministic scores just 0.05. The deterministic model essentially provides zero uncertainty quantification.And finally Robustness — STEPS scores 0.85 versus 0.25 for deterministic, showing it generalizes better across different weather regimes and conditions</a:t>
            </a:r>
            <a:endParaRPr sz="1100">
              <a:latin typeface="Arial"/>
              <a:ea typeface="Arial"/>
              <a:cs typeface="Arial"/>
              <a:sym typeface="Arial"/>
            </a:endParaRPr>
          </a:p>
        </p:txBody>
      </p:sp>
      <p:sp>
        <p:nvSpPr>
          <p:cNvPr id="234" name="Google Shape;234;g3ddffe2be9a_0_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dffe2be9a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dffe2be9a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1200"/>
              </a:spcAft>
              <a:buNone/>
            </a:pPr>
            <a:r>
              <a:rPr lang="en-US"/>
              <a:t>Here we can see the actual spatial outputs side by side.On the left, the base paper's deterministic result is the original radar map showing precipitation intensity. Our reproduced deterministic result shows a similar spatial structure — precipitation concentrated in a vertical band, with intensity coded in the blue-to-red colormap. The structure matches reasonably well, which validates our implementation.On the right side, the base paper's probabilistic result shows the exceedance probability map — P(R &gt; 0.5 mm/h) — in red. Our reproduced probabilistic mean also captures this spatial probability structure. You can see the high-probability zone in the core of the storm, with the probabilities tapering off toward the edges. This spatial uncertainty information is exactly what makes probabilistic nowcasting useful for real-world applications.</a:t>
            </a:r>
            <a:endParaRPr/>
          </a:p>
        </p:txBody>
      </p:sp>
      <p:sp>
        <p:nvSpPr>
          <p:cNvPr id="242" name="Google Shape;242;g3ddffe2be9a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dffe2be9a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ddffe2be9a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1200"/>
              </a:spcAft>
              <a:buNone/>
            </a:pPr>
            <a:r>
              <a:rPr lang="en-US"/>
              <a:t>Finally, we evaluated model skill using ROC curves — Receiver Operating Characteristic curves — which plot the Probability of Detection against the False Alarm Rate at different thresholds.In the base paper's ROC curves, you can see four curves for different lead times — 30, 60, 120, and 180 minutes. The AUC values are 0.96, 0.94, 0.89, and 0.83 respectively. As expected, skill decreases as lead time increases, but the model maintains strong discrimination ability even at 3 hours.Our reproduced ROC curves show a very similar trend. At 30 minutes we match exactly at AUC of 0.96. At 60 minutes we get 0.89, at 90 minutes 0.83, and at 120 minutes 0.74. The slight degradation compared to the base paper at longer lead times is consistent with our smaller ensemble size — we used 10 to 20 members versus the 24 used in the original paper. More ensemble members generally give better probability estimates.Crucially, all our AUC values remain above 0.74, well above the 0.5 random baseline and mostly above the 0.83 threshold we defined as a good model. This confirms that our implementation successfully reproduces the probabilistic nowcasting system described in the base paper</a:t>
            </a:r>
            <a:endParaRPr/>
          </a:p>
        </p:txBody>
      </p:sp>
      <p:sp>
        <p:nvSpPr>
          <p:cNvPr id="258" name="Google Shape;258;g3ddffe2be9a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d36f9e16a4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g3d36f9e16a4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de04cb7004_1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de04cb7004_1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g3de04cb7004_1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801B19"/>
        </a:solidFill>
      </p:bgPr>
    </p:bg>
    <p:spTree>
      <p:nvGrpSpPr>
        <p:cNvPr id="18" name="Shape 18"/>
        <p:cNvGrpSpPr/>
        <p:nvPr/>
      </p:nvGrpSpPr>
      <p:grpSpPr>
        <a:xfrm>
          <a:off x="0" y="0"/>
          <a:ext cx="0" cy="0"/>
          <a:chOff x="0" y="0"/>
          <a:chExt cx="0" cy="0"/>
        </a:xfrm>
      </p:grpSpPr>
      <p:sp>
        <p:nvSpPr>
          <p:cNvPr id="19" name="Google Shape;19;p2"/>
          <p:cNvSpPr txBox="1"/>
          <p:nvPr>
            <p:ph type="title"/>
          </p:nvPr>
        </p:nvSpPr>
        <p:spPr>
          <a:xfrm>
            <a:off x="844150" y="3874808"/>
            <a:ext cx="10515600" cy="835416"/>
          </a:xfrm>
          <a:prstGeom prst="rect">
            <a:avLst/>
          </a:prstGeom>
          <a:noFill/>
          <a:ln>
            <a:noFill/>
          </a:ln>
        </p:spPr>
        <p:txBody>
          <a:bodyPr anchorCtr="1" anchor="t" bIns="45700" lIns="91425" spcFirstLastPara="1" rIns="91425" wrap="square" tIns="45700">
            <a:noAutofit/>
          </a:bodyPr>
          <a:lstStyle>
            <a:lvl1pPr lvl="0" algn="l">
              <a:lnSpc>
                <a:spcPct val="90000"/>
              </a:lnSpc>
              <a:spcBef>
                <a:spcPts val="0"/>
              </a:spcBef>
              <a:spcAft>
                <a:spcPts val="0"/>
              </a:spcAft>
              <a:buClr>
                <a:schemeClr val="lt1"/>
              </a:buClr>
              <a:buSzPts val="3400"/>
              <a:buFont typeface="Helvetica Neue"/>
              <a:buNone/>
              <a:defRPr sz="3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0" name="Google Shape;20;p2"/>
          <p:cNvPicPr preferRelativeResize="0"/>
          <p:nvPr/>
        </p:nvPicPr>
        <p:blipFill rotWithShape="1">
          <a:blip r:embed="rId2">
            <a:alphaModFix/>
          </a:blip>
          <a:srcRect b="0" l="0" r="0" t="0"/>
          <a:stretch/>
        </p:blipFill>
        <p:spPr>
          <a:xfrm>
            <a:off x="4042932" y="1479396"/>
            <a:ext cx="4106136" cy="134772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5400"/>
              <a:buFont typeface="Helvetica Neue"/>
              <a:buNone/>
              <a:defRPr sz="5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000"/>
              <a:buFont typeface="Helvetica Neue Light"/>
              <a:buNone/>
              <a:defRPr b="0" i="0" sz="2000">
                <a:solidFill>
                  <a:srgbClr val="888888"/>
                </a:solidFill>
                <a:latin typeface="Helvetica Neue Light"/>
                <a:ea typeface="Helvetica Neue Light"/>
                <a:cs typeface="Helvetica Neue Light"/>
                <a:sym typeface="Helvetica Neue Light"/>
              </a:defRPr>
            </a:lvl1pPr>
            <a:lvl2pPr indent="-228600" lvl="1" marL="914400" algn="l">
              <a:lnSpc>
                <a:spcPct val="90000"/>
              </a:lnSpc>
              <a:spcBef>
                <a:spcPts val="500"/>
              </a:spcBef>
              <a:spcAft>
                <a:spcPts val="0"/>
              </a:spcAft>
              <a:buClr>
                <a:srgbClr val="888888"/>
              </a:buClr>
              <a:buSzPts val="2000"/>
              <a:buFont typeface="Helvetica Neue Light"/>
              <a:buNone/>
              <a:defRPr sz="2000">
                <a:solidFill>
                  <a:srgbClr val="888888"/>
                </a:solidFill>
              </a:defRPr>
            </a:lvl2pPr>
            <a:lvl3pPr indent="-228600" lvl="2" marL="1371600" algn="l">
              <a:lnSpc>
                <a:spcPct val="90000"/>
              </a:lnSpc>
              <a:spcBef>
                <a:spcPts val="500"/>
              </a:spcBef>
              <a:spcAft>
                <a:spcPts val="0"/>
              </a:spcAft>
              <a:buClr>
                <a:srgbClr val="888888"/>
              </a:buClr>
              <a:buSzPts val="1800"/>
              <a:buFont typeface="Helvetica Neue Light"/>
              <a:buNone/>
              <a:defRPr sz="1800">
                <a:solidFill>
                  <a:srgbClr val="888888"/>
                </a:solidFill>
              </a:defRPr>
            </a:lvl3pPr>
            <a:lvl4pPr indent="-228600" lvl="3" marL="1828800" algn="l">
              <a:lnSpc>
                <a:spcPct val="90000"/>
              </a:lnSpc>
              <a:spcBef>
                <a:spcPts val="500"/>
              </a:spcBef>
              <a:spcAft>
                <a:spcPts val="0"/>
              </a:spcAft>
              <a:buClr>
                <a:srgbClr val="888888"/>
              </a:buClr>
              <a:buSzPts val="1600"/>
              <a:buFont typeface="Helvetica Neue Light"/>
              <a:buNone/>
              <a:defRPr sz="1600">
                <a:solidFill>
                  <a:srgbClr val="888888"/>
                </a:solidFill>
              </a:defRPr>
            </a:lvl4pPr>
            <a:lvl5pPr indent="-228600" lvl="4" marL="2286000" algn="l">
              <a:lnSpc>
                <a:spcPct val="90000"/>
              </a:lnSpc>
              <a:spcBef>
                <a:spcPts val="500"/>
              </a:spcBef>
              <a:spcAft>
                <a:spcPts val="0"/>
              </a:spcAft>
              <a:buClr>
                <a:srgbClr val="888888"/>
              </a:buClr>
              <a:buSzPts val="1600"/>
              <a:buFont typeface="Helvetica Neue Light"/>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3"/>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25" name="Google Shape;25;p3"/>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6" name="Google Shape;26;p3"/>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4"/>
          <p:cNvSpPr txBox="1"/>
          <p:nvPr>
            <p:ph type="title"/>
          </p:nvPr>
        </p:nvSpPr>
        <p:spPr>
          <a:xfrm>
            <a:off x="594303" y="266700"/>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582427" y="1768950"/>
            <a:ext cx="1051560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Helvetica Neue Light"/>
              <a:buChar char="•"/>
              <a:defRPr sz="2400"/>
            </a:lvl1pPr>
            <a:lvl2pPr indent="-355600" lvl="1" marL="914400" algn="l">
              <a:lnSpc>
                <a:spcPct val="90000"/>
              </a:lnSpc>
              <a:spcBef>
                <a:spcPts val="500"/>
              </a:spcBef>
              <a:spcAft>
                <a:spcPts val="0"/>
              </a:spcAft>
              <a:buClr>
                <a:schemeClr val="dk1"/>
              </a:buClr>
              <a:buSzPts val="2000"/>
              <a:buFont typeface="Helvetica Neue Light"/>
              <a:buChar char="•"/>
              <a:defRPr sz="2000"/>
            </a:lvl2pPr>
            <a:lvl3pPr indent="-342900" lvl="2" marL="1371600" algn="l">
              <a:lnSpc>
                <a:spcPct val="90000"/>
              </a:lnSpc>
              <a:spcBef>
                <a:spcPts val="500"/>
              </a:spcBef>
              <a:spcAft>
                <a:spcPts val="0"/>
              </a:spcAft>
              <a:buClr>
                <a:schemeClr val="dk1"/>
              </a:buClr>
              <a:buSzPts val="1800"/>
              <a:buFont typeface="Helvetica Neue Light"/>
              <a:buChar char="•"/>
              <a:defRPr sz="1800"/>
            </a:lvl3pPr>
            <a:lvl4pPr indent="-330200" lvl="3" marL="1828800" algn="l">
              <a:lnSpc>
                <a:spcPct val="90000"/>
              </a:lnSpc>
              <a:spcBef>
                <a:spcPts val="500"/>
              </a:spcBef>
              <a:spcAft>
                <a:spcPts val="0"/>
              </a:spcAft>
              <a:buClr>
                <a:schemeClr val="dk1"/>
              </a:buClr>
              <a:buSzPts val="1600"/>
              <a:buFont typeface="Helvetica Neue Light"/>
              <a:buChar char="•"/>
              <a:defRPr sz="1600"/>
            </a:lvl4pPr>
            <a:lvl5pPr indent="-330200" lvl="4" marL="2286000" algn="l">
              <a:lnSpc>
                <a:spcPct val="90000"/>
              </a:lnSpc>
              <a:spcBef>
                <a:spcPts val="500"/>
              </a:spcBef>
              <a:spcAft>
                <a:spcPts val="0"/>
              </a:spcAft>
              <a:buClr>
                <a:schemeClr val="dk1"/>
              </a:buClr>
              <a:buSzPts val="1600"/>
              <a:buFont typeface="Helvetica Neue Light"/>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31" name="Google Shape;31;p4"/>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32" name="Google Shape;32;p4"/>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extLst>
    <p:ext uri="{DCECCB84-F9BA-43D5-87BE-67443E8EF086}">
      <p15:sldGuideLst>
        <p15:guide id="1" orient="horz" pos="73">
          <p15:clr>
            <a:srgbClr val="FBAE40"/>
          </p15:clr>
        </p15:guide>
        <p15:guide id="2" pos="3840">
          <p15:clr>
            <a:srgbClr val="FBAE40"/>
          </p15:clr>
        </p15:guide>
        <p15:guide id="3" orient="horz" pos="4247">
          <p15:clr>
            <a:srgbClr val="FBAE40"/>
          </p15:clr>
        </p15:guide>
        <p15:guide id="4" orient="horz" pos="164">
          <p15:clr>
            <a:srgbClr val="FBAE40"/>
          </p15:clr>
        </p15:guide>
        <p15:guide id="5" orient="horz" pos="1003">
          <p15:clr>
            <a:srgbClr val="FBAE40"/>
          </p15:clr>
        </p15:guide>
        <p15:guide id="6" pos="121">
          <p15:clr>
            <a:srgbClr val="FBAE40"/>
          </p15:clr>
        </p15:guide>
        <p15:guide id="7" pos="370">
          <p15:clr>
            <a:srgbClr val="FBAE40"/>
          </p15:clr>
        </p15:guide>
        <p15:guide id="8" orient="horz" pos="1117">
          <p15:clr>
            <a:srgbClr val="FBAE40"/>
          </p15:clr>
        </p15:guide>
        <p15:guide id="9" pos="6992">
          <p15:clr>
            <a:srgbClr val="FBAE40"/>
          </p15:clr>
        </p15:guide>
        <p15:guide id="10" orient="horz" pos="3861">
          <p15:clr>
            <a:srgbClr val="FBAE40"/>
          </p15:clr>
        </p15:guide>
        <p15:guide id="11" pos="7559">
          <p15:clr>
            <a:srgbClr val="FBAE40"/>
          </p15:clr>
        </p15:guide>
        <p15:guide id="12" orient="horz" pos="3952">
          <p15:clr>
            <a:srgbClr val="FBAE40"/>
          </p15:clr>
        </p15:guide>
        <p15:guide id="13" orient="horz" pos="4201">
          <p15:clr>
            <a:srgbClr val="FBAE40"/>
          </p15:clr>
        </p15:guide>
        <p15:guide id="14" orient="horz" pos="411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38" name="Google Shape;38;p5"/>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39" name="Google Shape;39;p5"/>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Helvetica Neue Light"/>
              <a:buNone/>
              <a:defRPr b="1" sz="2400"/>
            </a:lvl1pPr>
            <a:lvl2pPr indent="-228600" lvl="1" marL="914400" algn="l">
              <a:lnSpc>
                <a:spcPct val="90000"/>
              </a:lnSpc>
              <a:spcBef>
                <a:spcPts val="500"/>
              </a:spcBef>
              <a:spcAft>
                <a:spcPts val="0"/>
              </a:spcAft>
              <a:buClr>
                <a:schemeClr val="dk1"/>
              </a:buClr>
              <a:buSzPts val="2000"/>
              <a:buFont typeface="Helvetica Neue Light"/>
              <a:buNone/>
              <a:defRPr b="1" sz="2000"/>
            </a:lvl2pPr>
            <a:lvl3pPr indent="-228600" lvl="2" marL="1371600" algn="l">
              <a:lnSpc>
                <a:spcPct val="90000"/>
              </a:lnSpc>
              <a:spcBef>
                <a:spcPts val="500"/>
              </a:spcBef>
              <a:spcAft>
                <a:spcPts val="0"/>
              </a:spcAft>
              <a:buClr>
                <a:schemeClr val="dk1"/>
              </a:buClr>
              <a:buSzPts val="1800"/>
              <a:buFont typeface="Helvetica Neue Light"/>
              <a:buNone/>
              <a:defRPr b="1" sz="1800"/>
            </a:lvl3pPr>
            <a:lvl4pPr indent="-228600" lvl="3" marL="1828800" algn="l">
              <a:lnSpc>
                <a:spcPct val="90000"/>
              </a:lnSpc>
              <a:spcBef>
                <a:spcPts val="500"/>
              </a:spcBef>
              <a:spcAft>
                <a:spcPts val="0"/>
              </a:spcAft>
              <a:buClr>
                <a:schemeClr val="dk1"/>
              </a:buClr>
              <a:buSzPts val="1600"/>
              <a:buFont typeface="Helvetica Neue Light"/>
              <a:buNone/>
              <a:defRPr b="1" sz="1600"/>
            </a:lvl4pPr>
            <a:lvl5pPr indent="-228600" lvl="4" marL="2286000" algn="l">
              <a:lnSpc>
                <a:spcPct val="90000"/>
              </a:lnSpc>
              <a:spcBef>
                <a:spcPts val="500"/>
              </a:spcBef>
              <a:spcAft>
                <a:spcPts val="0"/>
              </a:spcAft>
              <a:buClr>
                <a:schemeClr val="dk1"/>
              </a:buClr>
              <a:buSzPts val="1600"/>
              <a:buFont typeface="Helvetica Neue Light"/>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Helvetica Neue Light"/>
              <a:buNone/>
              <a:defRPr b="1" sz="2400"/>
            </a:lvl1pPr>
            <a:lvl2pPr indent="-228600" lvl="1" marL="914400" algn="l">
              <a:lnSpc>
                <a:spcPct val="90000"/>
              </a:lnSpc>
              <a:spcBef>
                <a:spcPts val="500"/>
              </a:spcBef>
              <a:spcAft>
                <a:spcPts val="0"/>
              </a:spcAft>
              <a:buClr>
                <a:schemeClr val="dk1"/>
              </a:buClr>
              <a:buSzPts val="2000"/>
              <a:buFont typeface="Helvetica Neue Light"/>
              <a:buNone/>
              <a:defRPr b="1" sz="2000"/>
            </a:lvl2pPr>
            <a:lvl3pPr indent="-228600" lvl="2" marL="1371600" algn="l">
              <a:lnSpc>
                <a:spcPct val="90000"/>
              </a:lnSpc>
              <a:spcBef>
                <a:spcPts val="500"/>
              </a:spcBef>
              <a:spcAft>
                <a:spcPts val="0"/>
              </a:spcAft>
              <a:buClr>
                <a:schemeClr val="dk1"/>
              </a:buClr>
              <a:buSzPts val="1800"/>
              <a:buFont typeface="Helvetica Neue Light"/>
              <a:buNone/>
              <a:defRPr b="1" sz="1800"/>
            </a:lvl3pPr>
            <a:lvl4pPr indent="-228600" lvl="3" marL="1828800" algn="l">
              <a:lnSpc>
                <a:spcPct val="90000"/>
              </a:lnSpc>
              <a:spcBef>
                <a:spcPts val="500"/>
              </a:spcBef>
              <a:spcAft>
                <a:spcPts val="0"/>
              </a:spcAft>
              <a:buClr>
                <a:schemeClr val="dk1"/>
              </a:buClr>
              <a:buSzPts val="1600"/>
              <a:buFont typeface="Helvetica Neue Light"/>
              <a:buNone/>
              <a:defRPr b="1" sz="1600"/>
            </a:lvl4pPr>
            <a:lvl5pPr indent="-228600" lvl="4" marL="2286000" algn="l">
              <a:lnSpc>
                <a:spcPct val="90000"/>
              </a:lnSpc>
              <a:spcBef>
                <a:spcPts val="500"/>
              </a:spcBef>
              <a:spcAft>
                <a:spcPts val="0"/>
              </a:spcAft>
              <a:buClr>
                <a:schemeClr val="dk1"/>
              </a:buClr>
              <a:buSzPts val="1600"/>
              <a:buFont typeface="Helvetica Neue Light"/>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47" name="Google Shape;47;p6"/>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48" name="Google Shape;48;p6"/>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52" name="Google Shape;52;p7"/>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53" name="Google Shape;53;p7"/>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56" name="Google Shape;56;p8"/>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57" name="Google Shape;57;p8"/>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Helvetica Neu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Font typeface="Helvetica Neue Light"/>
              <a:buChar char="•"/>
              <a:defRPr sz="3200"/>
            </a:lvl1pPr>
            <a:lvl2pPr indent="-406400" lvl="1" marL="914400" algn="l">
              <a:lnSpc>
                <a:spcPct val="90000"/>
              </a:lnSpc>
              <a:spcBef>
                <a:spcPts val="500"/>
              </a:spcBef>
              <a:spcAft>
                <a:spcPts val="0"/>
              </a:spcAft>
              <a:buClr>
                <a:schemeClr val="dk1"/>
              </a:buClr>
              <a:buSzPts val="2800"/>
              <a:buFont typeface="Helvetica Neue Light"/>
              <a:buChar char="•"/>
              <a:defRPr sz="2800"/>
            </a:lvl2pPr>
            <a:lvl3pPr indent="-381000" lvl="2" marL="1371600" algn="l">
              <a:lnSpc>
                <a:spcPct val="90000"/>
              </a:lnSpc>
              <a:spcBef>
                <a:spcPts val="500"/>
              </a:spcBef>
              <a:spcAft>
                <a:spcPts val="0"/>
              </a:spcAft>
              <a:buClr>
                <a:schemeClr val="dk1"/>
              </a:buClr>
              <a:buSzPts val="2400"/>
              <a:buFont typeface="Helvetica Neue Light"/>
              <a:buChar char="•"/>
              <a:defRPr sz="2400"/>
            </a:lvl3pPr>
            <a:lvl4pPr indent="-355600" lvl="3" marL="1828800" algn="l">
              <a:lnSpc>
                <a:spcPct val="90000"/>
              </a:lnSpc>
              <a:spcBef>
                <a:spcPts val="500"/>
              </a:spcBef>
              <a:spcAft>
                <a:spcPts val="0"/>
              </a:spcAft>
              <a:buClr>
                <a:schemeClr val="dk1"/>
              </a:buClr>
              <a:buSzPts val="2000"/>
              <a:buFont typeface="Helvetica Neue Light"/>
              <a:buChar char="•"/>
              <a:defRPr sz="2000"/>
            </a:lvl4pPr>
            <a:lvl5pPr indent="-355600" lvl="4" marL="2286000" algn="l">
              <a:lnSpc>
                <a:spcPct val="90000"/>
              </a:lnSpc>
              <a:spcBef>
                <a:spcPts val="500"/>
              </a:spcBef>
              <a:spcAft>
                <a:spcPts val="0"/>
              </a:spcAft>
              <a:buClr>
                <a:schemeClr val="dk1"/>
              </a:buClr>
              <a:buSzPts val="2000"/>
              <a:buFont typeface="Helvetica Neue Light"/>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Helvetica Neue Light"/>
              <a:buNone/>
              <a:defRPr sz="1600"/>
            </a:lvl1pPr>
            <a:lvl2pPr indent="-228600" lvl="1" marL="914400" algn="l">
              <a:lnSpc>
                <a:spcPct val="90000"/>
              </a:lnSpc>
              <a:spcBef>
                <a:spcPts val="500"/>
              </a:spcBef>
              <a:spcAft>
                <a:spcPts val="0"/>
              </a:spcAft>
              <a:buClr>
                <a:schemeClr val="dk1"/>
              </a:buClr>
              <a:buSzPts val="1400"/>
              <a:buFont typeface="Helvetica Neue Light"/>
              <a:buNone/>
              <a:defRPr sz="1400"/>
            </a:lvl2pPr>
            <a:lvl3pPr indent="-228600" lvl="2" marL="1371600" algn="l">
              <a:lnSpc>
                <a:spcPct val="90000"/>
              </a:lnSpc>
              <a:spcBef>
                <a:spcPts val="500"/>
              </a:spcBef>
              <a:spcAft>
                <a:spcPts val="0"/>
              </a:spcAft>
              <a:buClr>
                <a:schemeClr val="dk1"/>
              </a:buClr>
              <a:buSzPts val="1200"/>
              <a:buFont typeface="Helvetica Neue Light"/>
              <a:buNone/>
              <a:defRPr sz="1200"/>
            </a:lvl3pPr>
            <a:lvl4pPr indent="-228600" lvl="3" marL="1828800" algn="l">
              <a:lnSpc>
                <a:spcPct val="90000"/>
              </a:lnSpc>
              <a:spcBef>
                <a:spcPts val="500"/>
              </a:spcBef>
              <a:spcAft>
                <a:spcPts val="0"/>
              </a:spcAft>
              <a:buClr>
                <a:schemeClr val="dk1"/>
              </a:buClr>
              <a:buSzPts val="1000"/>
              <a:buFont typeface="Helvetica Neue Light"/>
              <a:buNone/>
              <a:defRPr sz="1000"/>
            </a:lvl4pPr>
            <a:lvl5pPr indent="-228600" lvl="4" marL="2286000" algn="l">
              <a:lnSpc>
                <a:spcPct val="90000"/>
              </a:lnSpc>
              <a:spcBef>
                <a:spcPts val="500"/>
              </a:spcBef>
              <a:spcAft>
                <a:spcPts val="0"/>
              </a:spcAft>
              <a:buClr>
                <a:schemeClr val="dk1"/>
              </a:buClr>
              <a:buSzPts val="1000"/>
              <a:buFont typeface="Helvetica Neue Light"/>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63" name="Google Shape;63;p9"/>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64" name="Google Shape;64;p9"/>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Helvetica Neu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Helvetica Neue Light"/>
              <a:buNone/>
              <a:defRPr sz="1600"/>
            </a:lvl1pPr>
            <a:lvl2pPr indent="-228600" lvl="1" marL="914400" algn="l">
              <a:lnSpc>
                <a:spcPct val="90000"/>
              </a:lnSpc>
              <a:spcBef>
                <a:spcPts val="500"/>
              </a:spcBef>
              <a:spcAft>
                <a:spcPts val="0"/>
              </a:spcAft>
              <a:buClr>
                <a:schemeClr val="dk1"/>
              </a:buClr>
              <a:buSzPts val="1400"/>
              <a:buFont typeface="Helvetica Neue Light"/>
              <a:buNone/>
              <a:defRPr sz="1400"/>
            </a:lvl2pPr>
            <a:lvl3pPr indent="-228600" lvl="2" marL="1371600" algn="l">
              <a:lnSpc>
                <a:spcPct val="90000"/>
              </a:lnSpc>
              <a:spcBef>
                <a:spcPts val="500"/>
              </a:spcBef>
              <a:spcAft>
                <a:spcPts val="0"/>
              </a:spcAft>
              <a:buClr>
                <a:schemeClr val="dk1"/>
              </a:buClr>
              <a:buSzPts val="1200"/>
              <a:buFont typeface="Helvetica Neue Light"/>
              <a:buNone/>
              <a:defRPr sz="1200"/>
            </a:lvl3pPr>
            <a:lvl4pPr indent="-228600" lvl="3" marL="1828800" algn="l">
              <a:lnSpc>
                <a:spcPct val="90000"/>
              </a:lnSpc>
              <a:spcBef>
                <a:spcPts val="500"/>
              </a:spcBef>
              <a:spcAft>
                <a:spcPts val="0"/>
              </a:spcAft>
              <a:buClr>
                <a:schemeClr val="dk1"/>
              </a:buClr>
              <a:buSzPts val="1000"/>
              <a:buFont typeface="Helvetica Neue Light"/>
              <a:buNone/>
              <a:defRPr sz="1000"/>
            </a:lvl4pPr>
            <a:lvl5pPr indent="-228600" lvl="4" marL="2286000" algn="l">
              <a:lnSpc>
                <a:spcPct val="90000"/>
              </a:lnSpc>
              <a:spcBef>
                <a:spcPts val="500"/>
              </a:spcBef>
              <a:spcAft>
                <a:spcPts val="0"/>
              </a:spcAft>
              <a:buClr>
                <a:schemeClr val="dk1"/>
              </a:buClr>
              <a:buSzPts val="1000"/>
              <a:buFont typeface="Helvetica Neue Light"/>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70" name="Google Shape;70;p10"/>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71" name="Google Shape;71;p10"/>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76" name="Google Shape;76;p11"/>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77" name="Google Shape;77;p11"/>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82" name="Google Shape;82;p12"/>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83" name="Google Shape;83;p12"/>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Helvetica Neue"/>
              <a:buNone/>
              <a:defRPr b="1" i="0" sz="4000" u="none" cap="none" strike="noStrike">
                <a:solidFill>
                  <a:schemeClr val="dk1"/>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Helvetica Neue Light"/>
              <a:buChar char="•"/>
              <a:defRPr b="0" i="0" sz="2800" u="none" cap="none" strike="noStrike">
                <a:solidFill>
                  <a:schemeClr val="dk1"/>
                </a:solidFill>
                <a:latin typeface="Helvetica Neue Light"/>
                <a:ea typeface="Helvetica Neue Light"/>
                <a:cs typeface="Helvetica Neue Light"/>
                <a:sym typeface="Helvetica Neue Light"/>
              </a:defRPr>
            </a:lvl1pPr>
            <a:lvl2pPr indent="-381000" lvl="1" marL="914400" marR="0" rtl="0" algn="l">
              <a:lnSpc>
                <a:spcPct val="90000"/>
              </a:lnSpc>
              <a:spcBef>
                <a:spcPts val="500"/>
              </a:spcBef>
              <a:spcAft>
                <a:spcPts val="0"/>
              </a:spcAft>
              <a:buClr>
                <a:schemeClr val="dk1"/>
              </a:buClr>
              <a:buSzPts val="2400"/>
              <a:buFont typeface="Helvetica Neue Light"/>
              <a:buChar char="•"/>
              <a:defRPr b="0" i="0" sz="24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lnSpc>
                <a:spcPct val="90000"/>
              </a:lnSpc>
              <a:spcBef>
                <a:spcPts val="500"/>
              </a:spcBef>
              <a:spcAft>
                <a:spcPts val="0"/>
              </a:spcAft>
              <a:buClr>
                <a:schemeClr val="dk1"/>
              </a:buClr>
              <a:buSzPts val="2000"/>
              <a:buFont typeface="Helvetica Neue Light"/>
              <a:buChar char="•"/>
              <a:defRPr b="0" i="0" sz="2000" u="none" cap="none" strike="noStrike">
                <a:solidFill>
                  <a:schemeClr val="dk1"/>
                </a:solidFill>
                <a:latin typeface="Helvetica Neue Light"/>
                <a:ea typeface="Helvetica Neue Light"/>
                <a:cs typeface="Helvetica Neue Light"/>
                <a:sym typeface="Helvetica Neue Light"/>
              </a:defRPr>
            </a:lvl3pPr>
            <a:lvl4pPr indent="-342900" lvl="3" marL="1828800" marR="0" rtl="0" algn="l">
              <a:lnSpc>
                <a:spcPct val="90000"/>
              </a:lnSpc>
              <a:spcBef>
                <a:spcPts val="500"/>
              </a:spcBef>
              <a:spcAft>
                <a:spcPts val="0"/>
              </a:spcAft>
              <a:buClr>
                <a:schemeClr val="dk1"/>
              </a:buClr>
              <a:buSzPts val="1800"/>
              <a:buFont typeface="Helvetica Neue Light"/>
              <a:buChar char="•"/>
              <a:defRPr b="0" i="0" sz="1800" u="none" cap="none" strike="noStrike">
                <a:solidFill>
                  <a:schemeClr val="dk1"/>
                </a:solidFill>
                <a:latin typeface="Helvetica Neue Light"/>
                <a:ea typeface="Helvetica Neue Light"/>
                <a:cs typeface="Helvetica Neue Light"/>
                <a:sym typeface="Helvetica Neue Light"/>
              </a:defRPr>
            </a:lvl4pPr>
            <a:lvl5pPr indent="-342900" lvl="4" marL="2286000" marR="0" rtl="0" algn="l">
              <a:lnSpc>
                <a:spcPct val="90000"/>
              </a:lnSpc>
              <a:spcBef>
                <a:spcPts val="500"/>
              </a:spcBef>
              <a:spcAft>
                <a:spcPts val="0"/>
              </a:spcAft>
              <a:buClr>
                <a:schemeClr val="dk1"/>
              </a:buClr>
              <a:buSzPts val="1800"/>
              <a:buFont typeface="Helvetica Neue Light"/>
              <a:buChar char="•"/>
              <a:defRPr b="0" i="0" sz="1800" u="none" cap="none" strike="noStrike">
                <a:solidFill>
                  <a:schemeClr val="dk1"/>
                </a:solidFill>
                <a:latin typeface="Helvetica Neue Light"/>
                <a:ea typeface="Helvetica Neue Light"/>
                <a:cs typeface="Helvetica Neue Light"/>
                <a:sym typeface="Helvetica Neue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12" name="Google Shape;12;p1"/>
          <p:cNvGrpSpPr/>
          <p:nvPr/>
        </p:nvGrpSpPr>
        <p:grpSpPr>
          <a:xfrm>
            <a:off x="0" y="6756400"/>
            <a:ext cx="12192000" cy="105496"/>
            <a:chOff x="0" y="6756400"/>
            <a:chExt cx="12192000" cy="105496"/>
          </a:xfrm>
        </p:grpSpPr>
        <p:pic>
          <p:nvPicPr>
            <p:cNvPr id="13" name="Google Shape;13;p1"/>
            <p:cNvPicPr preferRelativeResize="0"/>
            <p:nvPr/>
          </p:nvPicPr>
          <p:blipFill rotWithShape="1">
            <a:blip r:embed="rId1">
              <a:alphaModFix/>
            </a:blip>
            <a:srcRect b="0" l="0" r="0" t="0"/>
            <a:stretch/>
          </p:blipFill>
          <p:spPr>
            <a:xfrm>
              <a:off x="1524000" y="6756400"/>
              <a:ext cx="9144000" cy="101600"/>
            </a:xfrm>
            <a:prstGeom prst="rect">
              <a:avLst/>
            </a:prstGeom>
            <a:noFill/>
            <a:ln>
              <a:noFill/>
            </a:ln>
          </p:spPr>
        </p:pic>
        <p:pic>
          <p:nvPicPr>
            <p:cNvPr id="14" name="Google Shape;14;p1"/>
            <p:cNvPicPr preferRelativeResize="0"/>
            <p:nvPr/>
          </p:nvPicPr>
          <p:blipFill rotWithShape="1">
            <a:blip r:embed="rId1">
              <a:alphaModFix/>
            </a:blip>
            <a:srcRect b="15585" l="0" r="71580" t="0"/>
            <a:stretch/>
          </p:blipFill>
          <p:spPr>
            <a:xfrm>
              <a:off x="0" y="6756400"/>
              <a:ext cx="2598717" cy="101600"/>
            </a:xfrm>
            <a:prstGeom prst="rect">
              <a:avLst/>
            </a:prstGeom>
            <a:noFill/>
            <a:ln>
              <a:noFill/>
            </a:ln>
          </p:spPr>
        </p:pic>
        <p:pic>
          <p:nvPicPr>
            <p:cNvPr id="15" name="Google Shape;15;p1"/>
            <p:cNvPicPr preferRelativeResize="0"/>
            <p:nvPr/>
          </p:nvPicPr>
          <p:blipFill rotWithShape="1">
            <a:blip r:embed="rId1">
              <a:alphaModFix/>
            </a:blip>
            <a:srcRect b="15585" l="0" r="71580" t="0"/>
            <a:stretch/>
          </p:blipFill>
          <p:spPr>
            <a:xfrm>
              <a:off x="9593283" y="6756400"/>
              <a:ext cx="2598717" cy="105496"/>
            </a:xfrm>
            <a:prstGeom prst="rect">
              <a:avLst/>
            </a:prstGeom>
            <a:noFill/>
            <a:ln>
              <a:noFill/>
            </a:ln>
          </p:spPr>
        </p:pic>
      </p:grpSp>
      <p:sp>
        <p:nvSpPr>
          <p:cNvPr id="16" name="Google Shape;16;p1"/>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17" name="Google Shape;17;p1"/>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7F7F7F"/>
                </a:solidFill>
                <a:latin typeface="Helvetica Neue Light"/>
                <a:ea typeface="Helvetica Neue Light"/>
                <a:cs typeface="Helvetica Neue Light"/>
                <a:sym typeface="Helvetica Neue Light"/>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title"/>
          </p:nvPr>
        </p:nvSpPr>
        <p:spPr>
          <a:xfrm>
            <a:off x="838200" y="3011296"/>
            <a:ext cx="10515600" cy="835500"/>
          </a:xfrm>
          <a:prstGeom prst="rect">
            <a:avLst/>
          </a:prstGeom>
          <a:noFill/>
          <a:ln>
            <a:noFill/>
          </a:ln>
        </p:spPr>
        <p:txBody>
          <a:bodyPr anchorCtr="1" anchor="t" bIns="45700" lIns="91425" spcFirstLastPara="1" rIns="91425" wrap="square" tIns="45700">
            <a:noAutofit/>
          </a:bodyPr>
          <a:lstStyle/>
          <a:p>
            <a:pPr indent="0" lvl="0" marL="0" rtl="0" algn="ctr">
              <a:lnSpc>
                <a:spcPct val="108000"/>
              </a:lnSpc>
              <a:spcBef>
                <a:spcPts val="0"/>
              </a:spcBef>
              <a:spcAft>
                <a:spcPts val="0"/>
              </a:spcAft>
              <a:buClr>
                <a:schemeClr val="dk1"/>
              </a:buClr>
              <a:buSzPts val="1100"/>
              <a:buFont typeface="Arial"/>
              <a:buNone/>
            </a:pPr>
            <a:r>
              <a:rPr b="0" lang="en-US" sz="2500">
                <a:solidFill>
                  <a:srgbClr val="FFFFFF"/>
                </a:solidFill>
                <a:latin typeface="Arial"/>
                <a:ea typeface="Arial"/>
                <a:cs typeface="Arial"/>
                <a:sym typeface="Arial"/>
              </a:rPr>
              <a:t>CSE 400: Fundamentals Of Probability In Computing </a:t>
            </a:r>
            <a:endParaRPr b="0" sz="2500">
              <a:solidFill>
                <a:srgbClr val="FFFFFF"/>
              </a:solidFill>
              <a:latin typeface="Arial"/>
              <a:ea typeface="Arial"/>
              <a:cs typeface="Arial"/>
              <a:sym typeface="Arial"/>
            </a:endParaRPr>
          </a:p>
          <a:p>
            <a:pPr indent="0" lvl="0" marL="0" rtl="0" algn="ctr">
              <a:lnSpc>
                <a:spcPct val="108000"/>
              </a:lnSpc>
              <a:spcBef>
                <a:spcPts val="0"/>
              </a:spcBef>
              <a:spcAft>
                <a:spcPts val="0"/>
              </a:spcAft>
              <a:buClr>
                <a:schemeClr val="dk1"/>
              </a:buClr>
              <a:buSzPts val="1100"/>
              <a:buFont typeface="Arial"/>
              <a:buNone/>
            </a:pPr>
            <a:r>
              <a:t/>
            </a:r>
            <a:endParaRPr b="0" sz="2500">
              <a:solidFill>
                <a:srgbClr val="FFFFFF"/>
              </a:solidFill>
              <a:latin typeface="Arial"/>
              <a:ea typeface="Arial"/>
              <a:cs typeface="Arial"/>
              <a:sym typeface="Arial"/>
            </a:endParaRPr>
          </a:p>
          <a:p>
            <a:pPr indent="0" lvl="0" marL="0" rtl="0" algn="ctr">
              <a:lnSpc>
                <a:spcPct val="108000"/>
              </a:lnSpc>
              <a:spcBef>
                <a:spcPts val="0"/>
              </a:spcBef>
              <a:spcAft>
                <a:spcPts val="0"/>
              </a:spcAft>
              <a:buClr>
                <a:schemeClr val="dk1"/>
              </a:buClr>
              <a:buSzPts val="1100"/>
              <a:buFont typeface="Arial"/>
              <a:buNone/>
            </a:pPr>
            <a:r>
              <a:t/>
            </a:r>
            <a:endParaRPr b="0" sz="2500">
              <a:solidFill>
                <a:srgbClr val="FFFFFF"/>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4300"/>
          </a:p>
        </p:txBody>
      </p:sp>
      <p:sp>
        <p:nvSpPr>
          <p:cNvPr id="89" name="Google Shape;89;p13"/>
          <p:cNvSpPr txBox="1"/>
          <p:nvPr/>
        </p:nvSpPr>
        <p:spPr>
          <a:xfrm>
            <a:off x="2861400" y="3846800"/>
            <a:ext cx="6469200" cy="1477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4200">
                <a:solidFill>
                  <a:schemeClr val="lt1"/>
                </a:solidFill>
                <a:latin typeface="Helvetica Neue Light"/>
                <a:ea typeface="Helvetica Neue Light"/>
                <a:cs typeface="Helvetica Neue Light"/>
                <a:sym typeface="Helvetica Neue Light"/>
              </a:rPr>
              <a:t>Probabilistic Precipitation Nowcasting</a:t>
            </a:r>
            <a:endParaRPr sz="4200">
              <a:solidFill>
                <a:schemeClr val="lt1"/>
              </a:solidFill>
              <a:latin typeface="Helvetica Neue Light"/>
              <a:ea typeface="Helvetica Neue Light"/>
              <a:cs typeface="Helvetica Neue Light"/>
              <a:sym typeface="Helvetica Neue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idx="4294967295" type="body"/>
          </p:nvPr>
        </p:nvSpPr>
        <p:spPr>
          <a:xfrm>
            <a:off x="3757925" y="558675"/>
            <a:ext cx="5028900" cy="539700"/>
          </a:xfrm>
          <a:prstGeom prst="rect">
            <a:avLst/>
          </a:prstGeom>
        </p:spPr>
        <p:txBody>
          <a:bodyPr anchorCtr="0" anchor="t" bIns="45700" lIns="91425" spcFirstLastPara="1" rIns="91425" wrap="square" tIns="45700">
            <a:normAutofit fontScale="25000" lnSpcReduction="20000"/>
          </a:bodyPr>
          <a:lstStyle/>
          <a:p>
            <a:pPr indent="0" lvl="0" marL="0" rtl="0" algn="l">
              <a:spcBef>
                <a:spcPts val="1000"/>
              </a:spcBef>
              <a:spcAft>
                <a:spcPts val="0"/>
              </a:spcAft>
              <a:buNone/>
            </a:pPr>
            <a:r>
              <a:rPr b="1" lang="en-US" sz="16000">
                <a:latin typeface="Helvetica Neue"/>
                <a:ea typeface="Helvetica Neue"/>
                <a:cs typeface="Helvetica Neue"/>
                <a:sym typeface="Helvetica Neue"/>
              </a:rPr>
              <a:t>Student Information</a:t>
            </a:r>
            <a:endParaRPr b="1" sz="16000">
              <a:latin typeface="Helvetica Neue"/>
              <a:ea typeface="Helvetica Neue"/>
              <a:cs typeface="Helvetica Neue"/>
              <a:sym typeface="Helvetica Neue"/>
            </a:endParaRPr>
          </a:p>
        </p:txBody>
      </p:sp>
      <p:sp>
        <p:nvSpPr>
          <p:cNvPr id="96" name="Google Shape;96;p14"/>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graphicFrame>
        <p:nvGraphicFramePr>
          <p:cNvPr id="97" name="Google Shape;97;p14"/>
          <p:cNvGraphicFramePr/>
          <p:nvPr/>
        </p:nvGraphicFramePr>
        <p:xfrm>
          <a:off x="908775" y="1439375"/>
          <a:ext cx="3000000" cy="3000000"/>
        </p:xfrm>
        <a:graphic>
          <a:graphicData uri="http://schemas.openxmlformats.org/drawingml/2006/table">
            <a:tbl>
              <a:tblPr>
                <a:noFill/>
                <a:tableStyleId>{379348D3-91E0-44B1-AF93-2B64AD6CBAFE}</a:tableStyleId>
              </a:tblPr>
              <a:tblGrid>
                <a:gridCol w="5095525"/>
                <a:gridCol w="5095525"/>
              </a:tblGrid>
              <a:tr h="718450">
                <a:tc>
                  <a:txBody>
                    <a:bodyPr/>
                    <a:lstStyle/>
                    <a:p>
                      <a:pPr indent="0" lvl="0" marL="0" rtl="0" algn="l">
                        <a:spcBef>
                          <a:spcPts val="0"/>
                        </a:spcBef>
                        <a:spcAft>
                          <a:spcPts val="0"/>
                        </a:spcAft>
                        <a:buNone/>
                      </a:pPr>
                      <a:r>
                        <a:rPr lang="en-US" sz="2400"/>
                        <a:t>                       </a:t>
                      </a:r>
                      <a:r>
                        <a:rPr b="1" lang="en-US" sz="2400"/>
                        <a:t>NAME</a:t>
                      </a:r>
                      <a:endParaRPr b="1" sz="2400"/>
                    </a:p>
                  </a:txBody>
                  <a:tcPr marT="91425" marB="91425" marR="91425" marL="91425"/>
                </a:tc>
                <a:tc>
                  <a:txBody>
                    <a:bodyPr/>
                    <a:lstStyle/>
                    <a:p>
                      <a:pPr indent="0" lvl="0" marL="0" rtl="0" algn="l">
                        <a:spcBef>
                          <a:spcPts val="0"/>
                        </a:spcBef>
                        <a:spcAft>
                          <a:spcPts val="0"/>
                        </a:spcAft>
                        <a:buNone/>
                      </a:pPr>
                      <a:r>
                        <a:rPr lang="en-US" sz="2400"/>
                        <a:t>                  </a:t>
                      </a:r>
                      <a:r>
                        <a:rPr b="1" lang="en-US" sz="2400"/>
                        <a:t>STUDENT ID</a:t>
                      </a:r>
                      <a:endParaRPr b="1" sz="2400"/>
                    </a:p>
                  </a:txBody>
                  <a:tcPr marT="91425" marB="91425" marR="91425" marL="91425"/>
                </a:tc>
              </a:tr>
              <a:tr h="718450">
                <a:tc>
                  <a:txBody>
                    <a:bodyPr/>
                    <a:lstStyle/>
                    <a:p>
                      <a:pPr indent="0" lvl="0" marL="0" rtl="0" algn="ctr">
                        <a:spcBef>
                          <a:spcPts val="0"/>
                        </a:spcBef>
                        <a:spcAft>
                          <a:spcPts val="0"/>
                        </a:spcAft>
                        <a:buNone/>
                      </a:pPr>
                      <a:r>
                        <a:rPr lang="en-US" sz="2400"/>
                        <a:t>Heer Patel</a:t>
                      </a:r>
                      <a:endParaRPr sz="2400"/>
                    </a:p>
                  </a:txBody>
                  <a:tcPr marT="91425" marB="91425" marR="91425" marL="91425"/>
                </a:tc>
                <a:tc>
                  <a:txBody>
                    <a:bodyPr/>
                    <a:lstStyle/>
                    <a:p>
                      <a:pPr indent="0" lvl="0" marL="0" rtl="0" algn="ctr">
                        <a:spcBef>
                          <a:spcPts val="0"/>
                        </a:spcBef>
                        <a:spcAft>
                          <a:spcPts val="0"/>
                        </a:spcAft>
                        <a:buNone/>
                      </a:pPr>
                      <a:r>
                        <a:rPr lang="en-US" sz="2400"/>
                        <a:t>AU2420114</a:t>
                      </a:r>
                      <a:endParaRPr sz="2400"/>
                    </a:p>
                  </a:txBody>
                  <a:tcPr marT="91425" marB="91425" marR="91425" marL="91425"/>
                </a:tc>
              </a:tr>
              <a:tr h="690850">
                <a:tc>
                  <a:txBody>
                    <a:bodyPr/>
                    <a:lstStyle/>
                    <a:p>
                      <a:pPr indent="0" lvl="0" marL="0" rtl="0" algn="ctr">
                        <a:spcBef>
                          <a:spcPts val="0"/>
                        </a:spcBef>
                        <a:spcAft>
                          <a:spcPts val="0"/>
                        </a:spcAft>
                        <a:buNone/>
                      </a:pPr>
                      <a:r>
                        <a:rPr lang="en-US" sz="2400"/>
                        <a:t>Chaithanya J</a:t>
                      </a:r>
                      <a:endParaRPr sz="2400"/>
                    </a:p>
                  </a:txBody>
                  <a:tcPr marT="91425" marB="91425" marR="91425" marL="91425"/>
                </a:tc>
                <a:tc>
                  <a:txBody>
                    <a:bodyPr/>
                    <a:lstStyle/>
                    <a:p>
                      <a:pPr indent="0" lvl="0" marL="0" rtl="0" algn="ctr">
                        <a:spcBef>
                          <a:spcPts val="0"/>
                        </a:spcBef>
                        <a:spcAft>
                          <a:spcPts val="0"/>
                        </a:spcAft>
                        <a:buNone/>
                      </a:pPr>
                      <a:r>
                        <a:rPr lang="en-US" sz="2400"/>
                        <a:t>AU2440097</a:t>
                      </a:r>
                      <a:endParaRPr sz="2400"/>
                    </a:p>
                  </a:txBody>
                  <a:tcPr marT="91425" marB="91425" marR="91425" marL="91425"/>
                </a:tc>
              </a:tr>
              <a:tr h="690850">
                <a:tc>
                  <a:txBody>
                    <a:bodyPr/>
                    <a:lstStyle/>
                    <a:p>
                      <a:pPr indent="0" lvl="0" marL="0" rtl="0" algn="ctr">
                        <a:spcBef>
                          <a:spcPts val="0"/>
                        </a:spcBef>
                        <a:spcAft>
                          <a:spcPts val="0"/>
                        </a:spcAft>
                        <a:buNone/>
                      </a:pPr>
                      <a:r>
                        <a:rPr lang="en-US" sz="2400"/>
                        <a:t>Modi jenil </a:t>
                      </a:r>
                      <a:endParaRPr sz="2400"/>
                    </a:p>
                  </a:txBody>
                  <a:tcPr marT="91425" marB="91425" marR="91425" marL="91425"/>
                </a:tc>
                <a:tc>
                  <a:txBody>
                    <a:bodyPr/>
                    <a:lstStyle/>
                    <a:p>
                      <a:pPr indent="0" lvl="0" marL="0" rtl="0" algn="ctr">
                        <a:spcBef>
                          <a:spcPts val="0"/>
                        </a:spcBef>
                        <a:spcAft>
                          <a:spcPts val="0"/>
                        </a:spcAft>
                        <a:buNone/>
                      </a:pPr>
                      <a:r>
                        <a:rPr lang="en-US" sz="2400"/>
                        <a:t>AU2440247</a:t>
                      </a:r>
                      <a:endParaRPr sz="2400"/>
                    </a:p>
                  </a:txBody>
                  <a:tcPr marT="91425" marB="91425" marR="91425" marL="91425"/>
                </a:tc>
              </a:tr>
              <a:tr h="690850">
                <a:tc>
                  <a:txBody>
                    <a:bodyPr/>
                    <a:lstStyle/>
                    <a:p>
                      <a:pPr indent="0" lvl="0" marL="0" rtl="0" algn="ctr">
                        <a:spcBef>
                          <a:spcPts val="0"/>
                        </a:spcBef>
                        <a:spcAft>
                          <a:spcPts val="0"/>
                        </a:spcAft>
                        <a:buNone/>
                      </a:pPr>
                      <a:r>
                        <a:rPr lang="en-US" sz="2400"/>
                        <a:t>Akshita Muchhal</a:t>
                      </a:r>
                      <a:endParaRPr sz="2400"/>
                    </a:p>
                  </a:txBody>
                  <a:tcPr marT="91425" marB="91425" marR="91425" marL="91425"/>
                </a:tc>
                <a:tc>
                  <a:txBody>
                    <a:bodyPr/>
                    <a:lstStyle/>
                    <a:p>
                      <a:pPr indent="0" lvl="0" marL="0" rtl="0" algn="ctr">
                        <a:spcBef>
                          <a:spcPts val="0"/>
                        </a:spcBef>
                        <a:spcAft>
                          <a:spcPts val="0"/>
                        </a:spcAft>
                        <a:buNone/>
                      </a:pPr>
                      <a:r>
                        <a:rPr lang="en-US" sz="2400"/>
                        <a:t>AU2440081</a:t>
                      </a:r>
                      <a:endParaRPr sz="2400"/>
                    </a:p>
                  </a:txBody>
                  <a:tcPr marT="91425" marB="91425" marR="91425" marL="91425"/>
                </a:tc>
              </a:tr>
              <a:tr h="690850">
                <a:tc>
                  <a:txBody>
                    <a:bodyPr/>
                    <a:lstStyle/>
                    <a:p>
                      <a:pPr indent="0" lvl="0" marL="0" rtl="0" algn="ctr">
                        <a:spcBef>
                          <a:spcPts val="0"/>
                        </a:spcBef>
                        <a:spcAft>
                          <a:spcPts val="0"/>
                        </a:spcAft>
                        <a:buNone/>
                      </a:pPr>
                      <a:r>
                        <a:rPr lang="en-US" sz="2400"/>
                        <a:t>Nikkesh Parekh </a:t>
                      </a:r>
                      <a:endParaRPr sz="2400"/>
                    </a:p>
                  </a:txBody>
                  <a:tcPr marT="91425" marB="91425" marR="91425" marL="91425"/>
                </a:tc>
                <a:tc>
                  <a:txBody>
                    <a:bodyPr/>
                    <a:lstStyle/>
                    <a:p>
                      <a:pPr indent="0" lvl="0" marL="0" rtl="0" algn="ctr">
                        <a:spcBef>
                          <a:spcPts val="0"/>
                        </a:spcBef>
                        <a:spcAft>
                          <a:spcPts val="0"/>
                        </a:spcAft>
                        <a:buNone/>
                      </a:pPr>
                      <a:r>
                        <a:rPr lang="en-US" sz="2400"/>
                        <a:t>AU2440214</a:t>
                      </a:r>
                      <a:endParaRPr sz="2400"/>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331878" y="-72575"/>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Background and Motivation</a:t>
            </a:r>
            <a:endParaRPr/>
          </a:p>
        </p:txBody>
      </p:sp>
      <p:sp>
        <p:nvSpPr>
          <p:cNvPr id="104" name="Google Shape;104;p15"/>
          <p:cNvSpPr txBox="1"/>
          <p:nvPr>
            <p:ph idx="1" type="body"/>
          </p:nvPr>
        </p:nvSpPr>
        <p:spPr>
          <a:xfrm>
            <a:off x="279525" y="1458475"/>
            <a:ext cx="6250800" cy="3774300"/>
          </a:xfrm>
          <a:prstGeom prst="rect">
            <a:avLst/>
          </a:prstGeom>
        </p:spPr>
        <p:txBody>
          <a:bodyPr anchorCtr="0" anchor="t" bIns="45700" lIns="91425" spcFirstLastPara="1" rIns="91425" wrap="square" tIns="45700">
            <a:normAutofit fontScale="25000" lnSpcReduction="20000"/>
          </a:bodyPr>
          <a:lstStyle/>
          <a:p>
            <a:pPr indent="0" lvl="0" marL="0" rtl="0" algn="l">
              <a:lnSpc>
                <a:spcPct val="200000"/>
              </a:lnSpc>
              <a:spcBef>
                <a:spcPts val="1200"/>
              </a:spcBef>
              <a:spcAft>
                <a:spcPts val="0"/>
              </a:spcAft>
              <a:buNone/>
            </a:pPr>
            <a:r>
              <a:t/>
            </a:r>
            <a:endParaRPr sz="6273">
              <a:latin typeface="Arial"/>
              <a:ea typeface="Arial"/>
              <a:cs typeface="Arial"/>
              <a:sym typeface="Arial"/>
            </a:endParaRPr>
          </a:p>
          <a:p>
            <a:pPr indent="-323850" lvl="0" marL="457200" rtl="0" algn="l">
              <a:lnSpc>
                <a:spcPct val="200000"/>
              </a:lnSpc>
              <a:spcBef>
                <a:spcPts val="1200"/>
              </a:spcBef>
              <a:spcAft>
                <a:spcPts val="0"/>
              </a:spcAft>
              <a:buSzPct val="100000"/>
              <a:buFont typeface="Arial"/>
              <a:buChar char="●"/>
            </a:pPr>
            <a:r>
              <a:rPr b="1" lang="en-US" sz="6000">
                <a:latin typeface="Arial"/>
                <a:ea typeface="Arial"/>
                <a:cs typeface="Arial"/>
                <a:sym typeface="Arial"/>
              </a:rPr>
              <a:t>The Lead-Time Gap:</a:t>
            </a:r>
            <a:r>
              <a:rPr lang="en-US" sz="6000">
                <a:latin typeface="Arial"/>
                <a:ea typeface="Arial"/>
                <a:cs typeface="Arial"/>
                <a:sym typeface="Arial"/>
              </a:rPr>
              <a:t> NWP models are too slow for the </a:t>
            </a:r>
            <a:r>
              <a:rPr b="1" lang="en-US" sz="6000">
                <a:latin typeface="Arial"/>
                <a:ea typeface="Arial"/>
                <a:cs typeface="Arial"/>
                <a:sym typeface="Arial"/>
              </a:rPr>
              <a:t>0–2 hour window</a:t>
            </a:r>
            <a:r>
              <a:rPr lang="en-US" sz="6000">
                <a:latin typeface="Arial"/>
                <a:ea typeface="Arial"/>
                <a:cs typeface="Arial"/>
                <a:sym typeface="Arial"/>
              </a:rPr>
              <a:t> where flash floods and aviation risks are highest.</a:t>
            </a:r>
            <a:endParaRPr sz="6000">
              <a:latin typeface="Arial"/>
              <a:ea typeface="Arial"/>
              <a:cs typeface="Arial"/>
              <a:sym typeface="Arial"/>
            </a:endParaRPr>
          </a:p>
          <a:p>
            <a:pPr indent="-323850" lvl="0" marL="457200" rtl="0" algn="l">
              <a:lnSpc>
                <a:spcPct val="200000"/>
              </a:lnSpc>
              <a:spcBef>
                <a:spcPts val="0"/>
              </a:spcBef>
              <a:spcAft>
                <a:spcPts val="0"/>
              </a:spcAft>
              <a:buSzPct val="100000"/>
              <a:buFont typeface="Arial"/>
              <a:buChar char="●"/>
            </a:pPr>
            <a:r>
              <a:rPr b="1" lang="en-US" sz="6000">
                <a:latin typeface="Arial"/>
                <a:ea typeface="Arial"/>
                <a:cs typeface="Arial"/>
                <a:sym typeface="Arial"/>
              </a:rPr>
              <a:t>Chaotic Dynamics:</a:t>
            </a:r>
            <a:r>
              <a:rPr lang="en-US" sz="6000">
                <a:latin typeface="Arial"/>
                <a:ea typeface="Arial"/>
                <a:cs typeface="Arial"/>
                <a:sym typeface="Arial"/>
              </a:rPr>
              <a:t> Rainfall isn't just a moving picture; it involves rapid </a:t>
            </a:r>
            <a:r>
              <a:rPr b="1" lang="en-US" sz="6000">
                <a:latin typeface="Arial"/>
                <a:ea typeface="Arial"/>
                <a:cs typeface="Arial"/>
                <a:sym typeface="Arial"/>
              </a:rPr>
              <a:t>convective growth and decay</a:t>
            </a:r>
            <a:r>
              <a:rPr lang="en-US" sz="6000">
                <a:latin typeface="Arial"/>
                <a:ea typeface="Arial"/>
                <a:cs typeface="Arial"/>
                <a:sym typeface="Arial"/>
              </a:rPr>
              <a:t> that static models ignore.</a:t>
            </a:r>
            <a:endParaRPr sz="6000">
              <a:latin typeface="Arial"/>
              <a:ea typeface="Arial"/>
              <a:cs typeface="Arial"/>
              <a:sym typeface="Arial"/>
            </a:endParaRPr>
          </a:p>
          <a:p>
            <a:pPr indent="-323850" lvl="0" marL="457200" rtl="0" algn="l">
              <a:lnSpc>
                <a:spcPct val="200000"/>
              </a:lnSpc>
              <a:spcBef>
                <a:spcPts val="0"/>
              </a:spcBef>
              <a:spcAft>
                <a:spcPts val="0"/>
              </a:spcAft>
              <a:buSzPct val="100000"/>
              <a:buFont typeface="Arial"/>
              <a:buChar char="●"/>
            </a:pPr>
            <a:r>
              <a:rPr b="1" lang="en-US" sz="6000">
                <a:latin typeface="Arial"/>
                <a:ea typeface="Arial"/>
                <a:cs typeface="Arial"/>
                <a:sym typeface="Arial"/>
              </a:rPr>
              <a:t>Operational Need:</a:t>
            </a:r>
            <a:r>
              <a:rPr lang="en-US" sz="6000">
                <a:latin typeface="Arial"/>
                <a:ea typeface="Arial"/>
                <a:cs typeface="Arial"/>
                <a:sym typeface="Arial"/>
              </a:rPr>
              <a:t> Demand for high-resolution, </a:t>
            </a:r>
            <a:r>
              <a:rPr b="1" lang="en-US" sz="6000">
                <a:latin typeface="Arial"/>
                <a:ea typeface="Arial"/>
                <a:cs typeface="Arial"/>
                <a:sym typeface="Arial"/>
              </a:rPr>
              <a:t>real-time systems</a:t>
            </a:r>
            <a:r>
              <a:rPr lang="en-US" sz="6000">
                <a:latin typeface="Arial"/>
                <a:ea typeface="Arial"/>
                <a:cs typeface="Arial"/>
                <a:sym typeface="Arial"/>
              </a:rPr>
              <a:t> to support emergency response and urban water management.</a:t>
            </a:r>
            <a:endParaRPr sz="6000">
              <a:latin typeface="Arial"/>
              <a:ea typeface="Arial"/>
              <a:cs typeface="Arial"/>
              <a:sym typeface="Arial"/>
            </a:endParaRPr>
          </a:p>
          <a:p>
            <a:pPr indent="0" lvl="0" marL="0" rtl="0" algn="l">
              <a:spcBef>
                <a:spcPts val="1200"/>
              </a:spcBef>
              <a:spcAft>
                <a:spcPts val="0"/>
              </a:spcAft>
              <a:buNone/>
            </a:pPr>
            <a:r>
              <a:t/>
            </a:r>
            <a:endParaRPr/>
          </a:p>
        </p:txBody>
      </p:sp>
      <p:sp>
        <p:nvSpPr>
          <p:cNvPr id="105" name="Google Shape;105;p15"/>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106" name="Google Shape;106;p15"/>
          <p:cNvPicPr preferRelativeResize="0"/>
          <p:nvPr/>
        </p:nvPicPr>
        <p:blipFill>
          <a:blip r:embed="rId3">
            <a:alphaModFix/>
          </a:blip>
          <a:stretch>
            <a:fillRect/>
          </a:stretch>
        </p:blipFill>
        <p:spPr>
          <a:xfrm>
            <a:off x="6530323" y="1625223"/>
            <a:ext cx="5636301" cy="36075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ph type="title"/>
          </p:nvPr>
        </p:nvSpPr>
        <p:spPr>
          <a:xfrm>
            <a:off x="389478" y="-62825"/>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Base paper Overview</a:t>
            </a:r>
            <a:endParaRPr/>
          </a:p>
        </p:txBody>
      </p:sp>
      <p:sp>
        <p:nvSpPr>
          <p:cNvPr id="113" name="Google Shape;113;p16"/>
          <p:cNvSpPr txBox="1"/>
          <p:nvPr>
            <p:ph idx="1" type="body"/>
          </p:nvPr>
        </p:nvSpPr>
        <p:spPr>
          <a:xfrm>
            <a:off x="295225" y="1429650"/>
            <a:ext cx="6749700" cy="4543200"/>
          </a:xfrm>
          <a:prstGeom prst="rect">
            <a:avLst/>
          </a:prstGeom>
        </p:spPr>
        <p:txBody>
          <a:bodyPr anchorCtr="0" anchor="t" bIns="45700" lIns="91425" spcFirstLastPara="1" rIns="91425" wrap="square" tIns="45700">
            <a:normAutofit/>
          </a:bodyPr>
          <a:lstStyle/>
          <a:p>
            <a:pPr indent="0" lvl="0" marL="0" rtl="0" algn="l">
              <a:lnSpc>
                <a:spcPct val="200000"/>
              </a:lnSpc>
              <a:spcBef>
                <a:spcPts val="1200"/>
              </a:spcBef>
              <a:spcAft>
                <a:spcPts val="0"/>
              </a:spcAft>
              <a:buNone/>
            </a:pPr>
            <a:r>
              <a:t/>
            </a:r>
            <a:endParaRPr sz="1900">
              <a:latin typeface="Helvetica Neue"/>
              <a:ea typeface="Helvetica Neue"/>
              <a:cs typeface="Helvetica Neue"/>
              <a:sym typeface="Helvetica Neue"/>
            </a:endParaRPr>
          </a:p>
          <a:p>
            <a:pPr indent="-323850" lvl="0" marL="457200" rtl="0" algn="l">
              <a:lnSpc>
                <a:spcPct val="200000"/>
              </a:lnSpc>
              <a:spcBef>
                <a:spcPts val="1200"/>
              </a:spcBef>
              <a:spcAft>
                <a:spcPts val="0"/>
              </a:spcAft>
              <a:buSzPts val="1500"/>
              <a:buFont typeface="Helvetica Neue"/>
              <a:buChar char="●"/>
            </a:pPr>
            <a:r>
              <a:rPr b="1" lang="en-US" sz="1500">
                <a:latin typeface="Arial"/>
                <a:ea typeface="Arial"/>
                <a:cs typeface="Arial"/>
                <a:sym typeface="Arial"/>
              </a:rPr>
              <a:t>The Pysteps Library:</a:t>
            </a:r>
            <a:r>
              <a:rPr lang="en-US" sz="1500">
                <a:latin typeface="Arial"/>
                <a:ea typeface="Arial"/>
                <a:cs typeface="Arial"/>
                <a:sym typeface="Arial"/>
              </a:rPr>
              <a:t> Introduced the first </a:t>
            </a:r>
            <a:r>
              <a:rPr b="1" lang="en-US" sz="1500">
                <a:latin typeface="Arial"/>
                <a:ea typeface="Arial"/>
                <a:cs typeface="Arial"/>
                <a:sym typeface="Arial"/>
              </a:rPr>
              <a:t>open-source, modular framework</a:t>
            </a:r>
            <a:r>
              <a:rPr lang="en-US" sz="1500">
                <a:latin typeface="Arial"/>
                <a:ea typeface="Arial"/>
                <a:cs typeface="Arial"/>
                <a:sym typeface="Arial"/>
              </a:rPr>
              <a:t> for probabilistic precipitation nowcasting.</a:t>
            </a:r>
            <a:endParaRPr sz="1500">
              <a:latin typeface="Arial"/>
              <a:ea typeface="Arial"/>
              <a:cs typeface="Arial"/>
              <a:sym typeface="Arial"/>
            </a:endParaRPr>
          </a:p>
          <a:p>
            <a:pPr indent="-323850" lvl="0" marL="457200" rtl="0" algn="l">
              <a:lnSpc>
                <a:spcPct val="200000"/>
              </a:lnSpc>
              <a:spcBef>
                <a:spcPts val="0"/>
              </a:spcBef>
              <a:spcAft>
                <a:spcPts val="0"/>
              </a:spcAft>
              <a:buSzPts val="1500"/>
              <a:buFont typeface="Helvetica Neue"/>
              <a:buChar char="●"/>
            </a:pPr>
            <a:r>
              <a:rPr b="1" lang="en-US" sz="1500">
                <a:latin typeface="Arial"/>
                <a:ea typeface="Arial"/>
                <a:cs typeface="Arial"/>
                <a:sym typeface="Arial"/>
              </a:rPr>
              <a:t>The STEPS Method:</a:t>
            </a:r>
            <a:r>
              <a:rPr lang="en-US" sz="1500">
                <a:latin typeface="Arial"/>
                <a:ea typeface="Arial"/>
                <a:cs typeface="Arial"/>
                <a:sym typeface="Arial"/>
              </a:rPr>
              <a:t> Combines </a:t>
            </a:r>
            <a:r>
              <a:rPr b="1" lang="en-US" sz="1500">
                <a:latin typeface="Arial"/>
                <a:ea typeface="Arial"/>
                <a:cs typeface="Arial"/>
                <a:sym typeface="Arial"/>
              </a:rPr>
              <a:t>Optical Flow</a:t>
            </a:r>
            <a:r>
              <a:rPr lang="en-US" sz="1500">
                <a:latin typeface="Arial"/>
                <a:ea typeface="Arial"/>
                <a:cs typeface="Arial"/>
                <a:sym typeface="Arial"/>
              </a:rPr>
              <a:t> (motion) with </a:t>
            </a:r>
            <a:r>
              <a:rPr b="1" lang="en-US" sz="1500">
                <a:latin typeface="Arial"/>
                <a:ea typeface="Arial"/>
                <a:cs typeface="Arial"/>
                <a:sym typeface="Arial"/>
              </a:rPr>
              <a:t>Multi-scale Cascades</a:t>
            </a:r>
            <a:r>
              <a:rPr lang="en-US" sz="1500">
                <a:latin typeface="Arial"/>
                <a:ea typeface="Arial"/>
                <a:cs typeface="Arial"/>
                <a:sym typeface="Arial"/>
              </a:rPr>
              <a:t> (structure) to simulate storm evolution.</a:t>
            </a:r>
            <a:endParaRPr sz="1500">
              <a:latin typeface="Arial"/>
              <a:ea typeface="Arial"/>
              <a:cs typeface="Arial"/>
              <a:sym typeface="Arial"/>
            </a:endParaRPr>
          </a:p>
          <a:p>
            <a:pPr indent="-323850" lvl="0" marL="457200" rtl="0" algn="l">
              <a:lnSpc>
                <a:spcPct val="200000"/>
              </a:lnSpc>
              <a:spcBef>
                <a:spcPts val="0"/>
              </a:spcBef>
              <a:spcAft>
                <a:spcPts val="0"/>
              </a:spcAft>
              <a:buSzPts val="1500"/>
              <a:buFont typeface="Helvetica Neue"/>
              <a:buChar char="●"/>
            </a:pPr>
            <a:r>
              <a:rPr b="1" lang="en-US" sz="1500">
                <a:latin typeface="Arial"/>
                <a:ea typeface="Arial"/>
                <a:cs typeface="Arial"/>
                <a:sym typeface="Arial"/>
              </a:rPr>
              <a:t>Global Validation:</a:t>
            </a:r>
            <a:r>
              <a:rPr lang="en-US" sz="1500">
                <a:latin typeface="Arial"/>
                <a:ea typeface="Arial"/>
                <a:cs typeface="Arial"/>
                <a:sym typeface="Arial"/>
              </a:rPr>
              <a:t> Proved consistency across diverse climates, from </a:t>
            </a:r>
            <a:r>
              <a:rPr b="1" lang="en-US" sz="1500">
                <a:latin typeface="Arial"/>
                <a:ea typeface="Arial"/>
                <a:cs typeface="Arial"/>
                <a:sym typeface="Arial"/>
              </a:rPr>
              <a:t>stratiform rain in Finland</a:t>
            </a:r>
            <a:r>
              <a:rPr lang="en-US" sz="1500">
                <a:latin typeface="Arial"/>
                <a:ea typeface="Arial"/>
                <a:cs typeface="Arial"/>
                <a:sym typeface="Arial"/>
              </a:rPr>
              <a:t> to </a:t>
            </a:r>
            <a:r>
              <a:rPr b="1" lang="en-US" sz="1500">
                <a:latin typeface="Arial"/>
                <a:ea typeface="Arial"/>
                <a:cs typeface="Arial"/>
                <a:sym typeface="Arial"/>
              </a:rPr>
              <a:t>cyclones in Australia</a:t>
            </a:r>
            <a:r>
              <a:rPr lang="en-US" sz="1500">
                <a:latin typeface="Arial"/>
                <a:ea typeface="Arial"/>
                <a:cs typeface="Arial"/>
                <a:sym typeface="Arial"/>
              </a:rPr>
              <a:t>.</a:t>
            </a:r>
            <a:endParaRPr sz="1500">
              <a:latin typeface="Helvetica Neue"/>
              <a:ea typeface="Helvetica Neue"/>
              <a:cs typeface="Helvetica Neue"/>
              <a:sym typeface="Helvetica Neue"/>
            </a:endParaRPr>
          </a:p>
          <a:p>
            <a:pPr indent="0" lvl="0" marL="0" rtl="0" algn="l">
              <a:spcBef>
                <a:spcPts val="1200"/>
              </a:spcBef>
              <a:spcAft>
                <a:spcPts val="0"/>
              </a:spcAft>
              <a:buNone/>
            </a:pPr>
            <a:r>
              <a:t/>
            </a:r>
            <a:endParaRPr/>
          </a:p>
        </p:txBody>
      </p:sp>
      <p:sp>
        <p:nvSpPr>
          <p:cNvPr id="114" name="Google Shape;114;p16"/>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115" name="Google Shape;115;p16"/>
          <p:cNvPicPr preferRelativeResize="0"/>
          <p:nvPr/>
        </p:nvPicPr>
        <p:blipFill>
          <a:blip r:embed="rId3">
            <a:alphaModFix/>
          </a:blip>
          <a:stretch>
            <a:fillRect/>
          </a:stretch>
        </p:blipFill>
        <p:spPr>
          <a:xfrm>
            <a:off x="7320475" y="1512513"/>
            <a:ext cx="4825051" cy="3832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ph type="title"/>
          </p:nvPr>
        </p:nvSpPr>
        <p:spPr>
          <a:xfrm>
            <a:off x="391778" y="-62825"/>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Problem Statement</a:t>
            </a:r>
            <a:endParaRPr/>
          </a:p>
        </p:txBody>
      </p:sp>
      <p:sp>
        <p:nvSpPr>
          <p:cNvPr id="122" name="Google Shape;122;p17"/>
          <p:cNvSpPr txBox="1"/>
          <p:nvPr>
            <p:ph idx="1" type="body"/>
          </p:nvPr>
        </p:nvSpPr>
        <p:spPr>
          <a:xfrm>
            <a:off x="436125" y="1386175"/>
            <a:ext cx="6354000" cy="4185300"/>
          </a:xfrm>
          <a:prstGeom prst="rect">
            <a:avLst/>
          </a:prstGeom>
        </p:spPr>
        <p:txBody>
          <a:bodyPr anchorCtr="0" anchor="t" bIns="45700" lIns="91425" spcFirstLastPara="1" rIns="91425" wrap="square" tIns="45700">
            <a:noAutofit/>
          </a:bodyPr>
          <a:lstStyle/>
          <a:p>
            <a:pPr indent="0" lvl="0" marL="0" rtl="0" algn="l">
              <a:lnSpc>
                <a:spcPct val="200000"/>
              </a:lnSpc>
              <a:spcBef>
                <a:spcPts val="1200"/>
              </a:spcBef>
              <a:spcAft>
                <a:spcPts val="0"/>
              </a:spcAft>
              <a:buNone/>
            </a:pPr>
            <a:r>
              <a:t/>
            </a:r>
            <a:endParaRPr sz="1500"/>
          </a:p>
          <a:p>
            <a:pPr indent="-323850" lvl="0" marL="457200" rtl="0" algn="l">
              <a:lnSpc>
                <a:spcPct val="200000"/>
              </a:lnSpc>
              <a:spcBef>
                <a:spcPts val="1200"/>
              </a:spcBef>
              <a:spcAft>
                <a:spcPts val="0"/>
              </a:spcAft>
              <a:buSzPts val="1500"/>
              <a:buFont typeface="Arial"/>
              <a:buChar char="●"/>
            </a:pPr>
            <a:r>
              <a:rPr b="1" lang="en-US" sz="1500">
                <a:latin typeface="Arial"/>
                <a:ea typeface="Arial"/>
                <a:cs typeface="Arial"/>
                <a:sym typeface="Arial"/>
              </a:rPr>
              <a:t>Predictability Limit:</a:t>
            </a:r>
            <a:r>
              <a:rPr lang="en-US" sz="1500">
                <a:latin typeface="Arial"/>
                <a:ea typeface="Arial"/>
                <a:cs typeface="Arial"/>
                <a:sym typeface="Arial"/>
              </a:rPr>
              <a:t> Deterministic forecasts lose physical relevance after </a:t>
            </a:r>
            <a:r>
              <a:rPr b="1" lang="en-US" sz="1500">
                <a:latin typeface="Arial"/>
                <a:ea typeface="Arial"/>
                <a:cs typeface="Arial"/>
                <a:sym typeface="Arial"/>
              </a:rPr>
              <a:t>~80 minutes</a:t>
            </a:r>
            <a:r>
              <a:rPr lang="en-US" sz="1500">
                <a:latin typeface="Arial"/>
                <a:ea typeface="Arial"/>
                <a:cs typeface="Arial"/>
                <a:sym typeface="Arial"/>
              </a:rPr>
              <a:t> due to the "frozen" motion assumption.</a:t>
            </a:r>
            <a:endParaRPr sz="1500">
              <a:latin typeface="Arial"/>
              <a:ea typeface="Arial"/>
              <a:cs typeface="Arial"/>
              <a:sym typeface="Arial"/>
            </a:endParaRPr>
          </a:p>
          <a:p>
            <a:pPr indent="-323850" lvl="0" marL="457200" rtl="0" algn="l">
              <a:lnSpc>
                <a:spcPct val="200000"/>
              </a:lnSpc>
              <a:spcBef>
                <a:spcPts val="0"/>
              </a:spcBef>
              <a:spcAft>
                <a:spcPts val="0"/>
              </a:spcAft>
              <a:buSzPts val="1500"/>
              <a:buFont typeface="Arial"/>
              <a:buChar char="●"/>
            </a:pPr>
            <a:r>
              <a:rPr b="1" lang="en-US" sz="1500">
                <a:latin typeface="Arial"/>
                <a:ea typeface="Arial"/>
                <a:cs typeface="Arial"/>
                <a:sym typeface="Arial"/>
              </a:rPr>
              <a:t>Non-Gaussian Data:</a:t>
            </a:r>
            <a:r>
              <a:rPr lang="en-US" sz="1500">
                <a:latin typeface="Arial"/>
                <a:ea typeface="Arial"/>
                <a:cs typeface="Arial"/>
                <a:sym typeface="Arial"/>
              </a:rPr>
              <a:t> Raw rainfall is skewed and intermittent; it requires </a:t>
            </a:r>
            <a:r>
              <a:rPr b="1" lang="en-US" sz="1500">
                <a:latin typeface="Arial"/>
                <a:ea typeface="Arial"/>
                <a:cs typeface="Arial"/>
                <a:sym typeface="Arial"/>
              </a:rPr>
              <a:t>log-transformation</a:t>
            </a:r>
            <a:r>
              <a:rPr lang="en-US" sz="1500">
                <a:latin typeface="Arial"/>
                <a:ea typeface="Arial"/>
                <a:cs typeface="Arial"/>
                <a:sym typeface="Arial"/>
              </a:rPr>
              <a:t> into a latent state for valid math.</a:t>
            </a:r>
            <a:endParaRPr sz="1500">
              <a:latin typeface="Arial"/>
              <a:ea typeface="Arial"/>
              <a:cs typeface="Arial"/>
              <a:sym typeface="Arial"/>
            </a:endParaRPr>
          </a:p>
          <a:p>
            <a:pPr indent="-323850" lvl="0" marL="457200" rtl="0" algn="l">
              <a:lnSpc>
                <a:spcPct val="200000"/>
              </a:lnSpc>
              <a:spcBef>
                <a:spcPts val="0"/>
              </a:spcBef>
              <a:spcAft>
                <a:spcPts val="0"/>
              </a:spcAft>
              <a:buSzPts val="1500"/>
              <a:buFont typeface="Arial"/>
              <a:buChar char="●"/>
            </a:pPr>
            <a:r>
              <a:rPr b="1" lang="en-US" sz="1500">
                <a:latin typeface="Arial"/>
                <a:ea typeface="Arial"/>
                <a:cs typeface="Arial"/>
                <a:sym typeface="Arial"/>
              </a:rPr>
              <a:t>Uncertainty Quantification:</a:t>
            </a:r>
            <a:r>
              <a:rPr lang="en-US" sz="1500">
                <a:latin typeface="Arial"/>
                <a:ea typeface="Arial"/>
                <a:cs typeface="Arial"/>
                <a:sym typeface="Arial"/>
              </a:rPr>
              <a:t> A single "best guess" cannot capture </a:t>
            </a:r>
            <a:r>
              <a:rPr b="1" lang="en-US" sz="1500">
                <a:latin typeface="Arial"/>
                <a:ea typeface="Arial"/>
                <a:cs typeface="Arial"/>
                <a:sym typeface="Arial"/>
              </a:rPr>
              <a:t>atmospheric variance</a:t>
            </a:r>
            <a:r>
              <a:rPr lang="en-US" sz="1500">
                <a:latin typeface="Arial"/>
                <a:ea typeface="Arial"/>
                <a:cs typeface="Arial"/>
                <a:sym typeface="Arial"/>
              </a:rPr>
              <a:t>; we need Ensembles to measure risk.</a:t>
            </a:r>
            <a:endParaRPr sz="1500">
              <a:latin typeface="Arial"/>
              <a:ea typeface="Arial"/>
              <a:cs typeface="Arial"/>
              <a:sym typeface="Arial"/>
            </a:endParaRPr>
          </a:p>
          <a:p>
            <a:pPr indent="0" lvl="0" marL="0" rtl="0" algn="l">
              <a:lnSpc>
                <a:spcPct val="200000"/>
              </a:lnSpc>
              <a:spcBef>
                <a:spcPts val="1200"/>
              </a:spcBef>
              <a:spcAft>
                <a:spcPts val="0"/>
              </a:spcAft>
              <a:buNone/>
            </a:pPr>
            <a:r>
              <a:t/>
            </a:r>
            <a:endParaRPr sz="1500"/>
          </a:p>
          <a:p>
            <a:pPr indent="0" lvl="0" marL="0" rtl="0" algn="l">
              <a:spcBef>
                <a:spcPts val="1200"/>
              </a:spcBef>
              <a:spcAft>
                <a:spcPts val="0"/>
              </a:spcAft>
              <a:buNone/>
            </a:pPr>
            <a:r>
              <a:t/>
            </a:r>
            <a:endParaRPr sz="1500"/>
          </a:p>
        </p:txBody>
      </p:sp>
      <p:sp>
        <p:nvSpPr>
          <p:cNvPr id="123" name="Google Shape;123;p17"/>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124" name="Google Shape;124;p17"/>
          <p:cNvPicPr preferRelativeResize="0"/>
          <p:nvPr/>
        </p:nvPicPr>
        <p:blipFill>
          <a:blip r:embed="rId3">
            <a:alphaModFix/>
          </a:blip>
          <a:stretch>
            <a:fillRect/>
          </a:stretch>
        </p:blipFill>
        <p:spPr>
          <a:xfrm>
            <a:off x="6790125" y="2236762"/>
            <a:ext cx="5309925" cy="2384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31" name="Google Shape;131;p18"/>
          <p:cNvSpPr txBox="1"/>
          <p:nvPr>
            <p:ph idx="1" type="body"/>
          </p:nvPr>
        </p:nvSpPr>
        <p:spPr>
          <a:xfrm>
            <a:off x="582427" y="1768950"/>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132" name="Google Shape;132;p18"/>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133" name="Google Shape;133;p18"/>
          <p:cNvPicPr preferRelativeResize="0"/>
          <p:nvPr/>
        </p:nvPicPr>
        <p:blipFill>
          <a:blip r:embed="rId3">
            <a:alphaModFix/>
          </a:blip>
          <a:stretch>
            <a:fillRect/>
          </a:stretch>
        </p:blipFill>
        <p:spPr>
          <a:xfrm>
            <a:off x="0" y="0"/>
            <a:ext cx="12192000" cy="6858000"/>
          </a:xfrm>
          <a:prstGeom prst="rect">
            <a:avLst/>
          </a:prstGeom>
          <a:noFill/>
          <a:ln>
            <a:noFill/>
          </a:ln>
        </p:spPr>
      </p:pic>
      <p:pic>
        <p:nvPicPr>
          <p:cNvPr id="134" name="Google Shape;134;p18"/>
          <p:cNvPicPr preferRelativeResize="0"/>
          <p:nvPr/>
        </p:nvPicPr>
        <p:blipFill>
          <a:blip r:embed="rId4">
            <a:alphaModFix/>
          </a:blip>
          <a:stretch>
            <a:fillRect/>
          </a:stretch>
        </p:blipFill>
        <p:spPr>
          <a:xfrm>
            <a:off x="7686575" y="5859463"/>
            <a:ext cx="3794625" cy="828675"/>
          </a:xfrm>
          <a:prstGeom prst="rect">
            <a:avLst/>
          </a:prstGeom>
          <a:noFill/>
          <a:ln>
            <a:noFill/>
          </a:ln>
        </p:spPr>
      </p:pic>
      <p:pic>
        <p:nvPicPr>
          <p:cNvPr id="135" name="Google Shape;135;p18"/>
          <p:cNvPicPr preferRelativeResize="0"/>
          <p:nvPr/>
        </p:nvPicPr>
        <p:blipFill>
          <a:blip r:embed="rId5">
            <a:alphaModFix/>
          </a:blip>
          <a:stretch>
            <a:fillRect/>
          </a:stretch>
        </p:blipFill>
        <p:spPr>
          <a:xfrm>
            <a:off x="6559925" y="2926475"/>
            <a:ext cx="5632075" cy="828675"/>
          </a:xfrm>
          <a:prstGeom prst="rect">
            <a:avLst/>
          </a:prstGeom>
          <a:noFill/>
          <a:ln>
            <a:noFill/>
          </a:ln>
        </p:spPr>
      </p:pic>
      <p:pic>
        <p:nvPicPr>
          <p:cNvPr id="136" name="Google Shape;136;p18"/>
          <p:cNvPicPr preferRelativeResize="0"/>
          <p:nvPr/>
        </p:nvPicPr>
        <p:blipFill>
          <a:blip r:embed="rId5">
            <a:alphaModFix/>
          </a:blip>
          <a:stretch>
            <a:fillRect/>
          </a:stretch>
        </p:blipFill>
        <p:spPr>
          <a:xfrm>
            <a:off x="6559925" y="5771325"/>
            <a:ext cx="1126650" cy="916825"/>
          </a:xfrm>
          <a:prstGeom prst="rect">
            <a:avLst/>
          </a:prstGeom>
          <a:noFill/>
          <a:ln>
            <a:noFill/>
          </a:ln>
        </p:spPr>
      </p:pic>
      <p:pic>
        <p:nvPicPr>
          <p:cNvPr id="137" name="Google Shape;137;p18"/>
          <p:cNvPicPr preferRelativeResize="0"/>
          <p:nvPr/>
        </p:nvPicPr>
        <p:blipFill>
          <a:blip r:embed="rId5">
            <a:alphaModFix/>
          </a:blip>
          <a:stretch>
            <a:fillRect/>
          </a:stretch>
        </p:blipFill>
        <p:spPr>
          <a:xfrm>
            <a:off x="11481200" y="5815375"/>
            <a:ext cx="710800" cy="916825"/>
          </a:xfrm>
          <a:prstGeom prst="rect">
            <a:avLst/>
          </a:prstGeom>
          <a:noFill/>
          <a:ln>
            <a:noFill/>
          </a:ln>
        </p:spPr>
      </p:pic>
      <p:pic>
        <p:nvPicPr>
          <p:cNvPr id="138" name="Google Shape;138;p18"/>
          <p:cNvPicPr preferRelativeResize="0"/>
          <p:nvPr/>
        </p:nvPicPr>
        <p:blipFill>
          <a:blip r:embed="rId6">
            <a:alphaModFix/>
          </a:blip>
          <a:stretch>
            <a:fillRect/>
          </a:stretch>
        </p:blipFill>
        <p:spPr>
          <a:xfrm>
            <a:off x="10668000" y="2103475"/>
            <a:ext cx="1524000" cy="1524000"/>
          </a:xfrm>
          <a:prstGeom prst="ellipse">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45" name="Google Shape;145;p19"/>
          <p:cNvSpPr txBox="1"/>
          <p:nvPr>
            <p:ph idx="1" type="body"/>
          </p:nvPr>
        </p:nvSpPr>
        <p:spPr>
          <a:xfrm>
            <a:off x="582427" y="1768950"/>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146" name="Google Shape;146;p19"/>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147" name="Google Shape;147;p19"/>
          <p:cNvPicPr preferRelativeResize="0"/>
          <p:nvPr/>
        </p:nvPicPr>
        <p:blipFill>
          <a:blip r:embed="rId3">
            <a:alphaModFix/>
          </a:blip>
          <a:stretch>
            <a:fillRect/>
          </a:stretch>
        </p:blipFill>
        <p:spPr>
          <a:xfrm>
            <a:off x="0" y="0"/>
            <a:ext cx="12192000" cy="6858000"/>
          </a:xfrm>
          <a:prstGeom prst="rect">
            <a:avLst/>
          </a:prstGeom>
          <a:noFill/>
          <a:ln>
            <a:noFill/>
          </a:ln>
        </p:spPr>
      </p:pic>
      <p:pic>
        <p:nvPicPr>
          <p:cNvPr id="148" name="Google Shape;148;p19"/>
          <p:cNvPicPr preferRelativeResize="0"/>
          <p:nvPr/>
        </p:nvPicPr>
        <p:blipFill>
          <a:blip r:embed="rId4">
            <a:alphaModFix/>
          </a:blip>
          <a:stretch>
            <a:fillRect/>
          </a:stretch>
        </p:blipFill>
        <p:spPr>
          <a:xfrm>
            <a:off x="10515600" y="152400"/>
            <a:ext cx="1524000" cy="1524000"/>
          </a:xfrm>
          <a:prstGeom prst="ellipse">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ph idx="1" type="body"/>
          </p:nvPr>
        </p:nvSpPr>
        <p:spPr>
          <a:xfrm>
            <a:off x="587375" y="260350"/>
            <a:ext cx="10515600" cy="377400"/>
          </a:xfrm>
          <a:prstGeom prst="rect">
            <a:avLst/>
          </a:prstGeom>
        </p:spPr>
        <p:txBody>
          <a:bodyPr anchorCtr="0" anchor="t" bIns="45700" lIns="91425" spcFirstLastPara="1" rIns="91425" wrap="square" tIns="45700">
            <a:normAutofit lnSpcReduction="20000"/>
          </a:bodyPr>
          <a:lstStyle/>
          <a:p>
            <a:pPr indent="0" lvl="0" marL="0" rtl="0" algn="l">
              <a:spcBef>
                <a:spcPts val="1000"/>
              </a:spcBef>
              <a:spcAft>
                <a:spcPts val="0"/>
              </a:spcAft>
              <a:buNone/>
            </a:pPr>
            <a:r>
              <a:rPr lang="en-US"/>
              <a:t>                      Extrapolation                                               S-PROG</a:t>
            </a:r>
            <a:endParaRPr/>
          </a:p>
        </p:txBody>
      </p:sp>
      <p:sp>
        <p:nvSpPr>
          <p:cNvPr id="155" name="Google Shape;155;p20"/>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156" name="Google Shape;156;p20"/>
          <p:cNvPicPr preferRelativeResize="0"/>
          <p:nvPr/>
        </p:nvPicPr>
        <p:blipFill>
          <a:blip r:embed="rId3">
            <a:alphaModFix/>
          </a:blip>
          <a:stretch>
            <a:fillRect/>
          </a:stretch>
        </p:blipFill>
        <p:spPr>
          <a:xfrm>
            <a:off x="1111450" y="683762"/>
            <a:ext cx="4472975" cy="5598451"/>
          </a:xfrm>
          <a:prstGeom prst="rect">
            <a:avLst/>
          </a:prstGeom>
          <a:noFill/>
          <a:ln>
            <a:noFill/>
          </a:ln>
        </p:spPr>
      </p:pic>
      <p:pic>
        <p:nvPicPr>
          <p:cNvPr id="157" name="Google Shape;157;p20"/>
          <p:cNvPicPr preferRelativeResize="0"/>
          <p:nvPr/>
        </p:nvPicPr>
        <p:blipFill>
          <a:blip r:embed="rId4">
            <a:alphaModFix/>
          </a:blip>
          <a:stretch>
            <a:fillRect/>
          </a:stretch>
        </p:blipFill>
        <p:spPr>
          <a:xfrm>
            <a:off x="5830750" y="637750"/>
            <a:ext cx="5856101" cy="5598475"/>
          </a:xfrm>
          <a:prstGeom prst="rect">
            <a:avLst/>
          </a:prstGeom>
          <a:noFill/>
          <a:ln>
            <a:noFill/>
          </a:ln>
        </p:spPr>
      </p:pic>
      <p:pic>
        <p:nvPicPr>
          <p:cNvPr id="158" name="Google Shape;158;p20"/>
          <p:cNvPicPr preferRelativeResize="0"/>
          <p:nvPr/>
        </p:nvPicPr>
        <p:blipFill>
          <a:blip r:embed="rId5">
            <a:alphaModFix/>
          </a:blip>
          <a:stretch>
            <a:fillRect/>
          </a:stretch>
        </p:blipFill>
        <p:spPr>
          <a:xfrm>
            <a:off x="10515600" y="152400"/>
            <a:ext cx="1524000" cy="1524000"/>
          </a:xfrm>
          <a:prstGeom prst="ellips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65" name="Google Shape;165;p21"/>
          <p:cNvSpPr txBox="1"/>
          <p:nvPr>
            <p:ph idx="1" type="body"/>
          </p:nvPr>
        </p:nvSpPr>
        <p:spPr>
          <a:xfrm>
            <a:off x="582427" y="1768950"/>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166" name="Google Shape;166;p21"/>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167" name="Google Shape;167;p21"/>
          <p:cNvPicPr preferRelativeResize="0"/>
          <p:nvPr/>
        </p:nvPicPr>
        <p:blipFill>
          <a:blip r:embed="rId3">
            <a:alphaModFix/>
          </a:blip>
          <a:stretch>
            <a:fillRect/>
          </a:stretch>
        </p:blipFill>
        <p:spPr>
          <a:xfrm>
            <a:off x="0" y="61650"/>
            <a:ext cx="12192000" cy="685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2"/>
          <p:cNvSpPr txBox="1"/>
          <p:nvPr>
            <p:ph idx="1" type="body"/>
          </p:nvPr>
        </p:nvSpPr>
        <p:spPr>
          <a:xfrm>
            <a:off x="464025" y="260350"/>
            <a:ext cx="10515600" cy="377400"/>
          </a:xfrm>
          <a:prstGeom prst="rect">
            <a:avLst/>
          </a:prstGeom>
        </p:spPr>
        <p:txBody>
          <a:bodyPr anchorCtr="0" anchor="t" bIns="45700" lIns="91425" spcFirstLastPara="1" rIns="91425" wrap="square" tIns="45700">
            <a:normAutofit lnSpcReduction="20000"/>
          </a:bodyPr>
          <a:lstStyle/>
          <a:p>
            <a:pPr indent="0" lvl="0" marL="0" rtl="0" algn="ctr">
              <a:spcBef>
                <a:spcPts val="1000"/>
              </a:spcBef>
              <a:spcAft>
                <a:spcPts val="0"/>
              </a:spcAft>
              <a:buNone/>
            </a:pPr>
            <a:r>
              <a:rPr lang="en-US"/>
              <a:t>STEPS ensemble pipeline</a:t>
            </a:r>
            <a:endParaRPr/>
          </a:p>
        </p:txBody>
      </p:sp>
      <p:sp>
        <p:nvSpPr>
          <p:cNvPr id="174" name="Google Shape;174;p22"/>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175" name="Google Shape;175;p22"/>
          <p:cNvPicPr preferRelativeResize="0"/>
          <p:nvPr/>
        </p:nvPicPr>
        <p:blipFill>
          <a:blip r:embed="rId3">
            <a:alphaModFix/>
          </a:blip>
          <a:stretch>
            <a:fillRect/>
          </a:stretch>
        </p:blipFill>
        <p:spPr>
          <a:xfrm>
            <a:off x="1870140" y="637750"/>
            <a:ext cx="8451724" cy="6104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3"/>
          <p:cNvSpPr txBox="1"/>
          <p:nvPr>
            <p:ph idx="1" type="body"/>
          </p:nvPr>
        </p:nvSpPr>
        <p:spPr>
          <a:xfrm>
            <a:off x="464025" y="260350"/>
            <a:ext cx="10515600" cy="377400"/>
          </a:xfrm>
          <a:prstGeom prst="rect">
            <a:avLst/>
          </a:prstGeom>
        </p:spPr>
        <p:txBody>
          <a:bodyPr anchorCtr="0" anchor="t" bIns="45700" lIns="91425" spcFirstLastPara="1" rIns="91425" wrap="square" tIns="45700">
            <a:normAutofit lnSpcReduction="20000"/>
          </a:bodyPr>
          <a:lstStyle/>
          <a:p>
            <a:pPr indent="0" lvl="0" marL="0" rtl="0" algn="ctr">
              <a:spcBef>
                <a:spcPts val="1000"/>
              </a:spcBef>
              <a:spcAft>
                <a:spcPts val="0"/>
              </a:spcAft>
              <a:buNone/>
            </a:pPr>
            <a:r>
              <a:rPr lang="en-US"/>
              <a:t>Deterministic VS Randomized</a:t>
            </a:r>
            <a:endParaRPr/>
          </a:p>
        </p:txBody>
      </p:sp>
      <p:sp>
        <p:nvSpPr>
          <p:cNvPr id="182" name="Google Shape;182;p23"/>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183" name="Google Shape;183;p23"/>
          <p:cNvPicPr preferRelativeResize="0"/>
          <p:nvPr/>
        </p:nvPicPr>
        <p:blipFill>
          <a:blip r:embed="rId3">
            <a:alphaModFix/>
          </a:blip>
          <a:stretch>
            <a:fillRect/>
          </a:stretch>
        </p:blipFill>
        <p:spPr>
          <a:xfrm>
            <a:off x="1856925" y="826675"/>
            <a:ext cx="7729808" cy="5915451"/>
          </a:xfrm>
          <a:prstGeom prst="rect">
            <a:avLst/>
          </a:prstGeom>
          <a:noFill/>
          <a:ln>
            <a:noFill/>
          </a:ln>
        </p:spPr>
      </p:pic>
      <p:cxnSp>
        <p:nvCxnSpPr>
          <p:cNvPr id="184" name="Google Shape;184;p23"/>
          <p:cNvCxnSpPr/>
          <p:nvPr/>
        </p:nvCxnSpPr>
        <p:spPr>
          <a:xfrm flipH="1">
            <a:off x="3479675" y="1544550"/>
            <a:ext cx="2133900" cy="641400"/>
          </a:xfrm>
          <a:prstGeom prst="straightConnector1">
            <a:avLst/>
          </a:prstGeom>
          <a:noFill/>
          <a:ln cap="flat" cmpd="sng" w="9525">
            <a:solidFill>
              <a:schemeClr val="dk2"/>
            </a:solidFill>
            <a:prstDash val="solid"/>
            <a:round/>
            <a:headEnd len="med" w="med" type="none"/>
            <a:tailEnd len="med" w="med" type="triangle"/>
          </a:ln>
        </p:spPr>
      </p:cxnSp>
      <p:cxnSp>
        <p:nvCxnSpPr>
          <p:cNvPr id="185" name="Google Shape;185;p23"/>
          <p:cNvCxnSpPr/>
          <p:nvPr/>
        </p:nvCxnSpPr>
        <p:spPr>
          <a:xfrm>
            <a:off x="5576575" y="1556900"/>
            <a:ext cx="2491500" cy="616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4"/>
          <p:cNvSpPr txBox="1"/>
          <p:nvPr>
            <p:ph type="title"/>
          </p:nvPr>
        </p:nvSpPr>
        <p:spPr>
          <a:xfrm>
            <a:off x="594303" y="2667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Bounds used in the problem</a:t>
            </a:r>
            <a:endParaRPr/>
          </a:p>
        </p:txBody>
      </p:sp>
      <p:sp>
        <p:nvSpPr>
          <p:cNvPr id="191" name="Google Shape;191;p24"/>
          <p:cNvSpPr txBox="1"/>
          <p:nvPr>
            <p:ph idx="1" type="body"/>
          </p:nvPr>
        </p:nvSpPr>
        <p:spPr>
          <a:xfrm>
            <a:off x="594301" y="1536900"/>
            <a:ext cx="6925200" cy="4351200"/>
          </a:xfrm>
          <a:prstGeom prst="rect">
            <a:avLst/>
          </a:prstGeom>
          <a:noFill/>
          <a:ln>
            <a:noFill/>
          </a:ln>
        </p:spPr>
        <p:txBody>
          <a:bodyPr anchorCtr="0" anchor="t" bIns="45700" lIns="91425" spcFirstLastPara="1" rIns="91425" wrap="square" tIns="45700">
            <a:noAutofit/>
          </a:bodyPr>
          <a:lstStyle/>
          <a:p>
            <a:pPr indent="-374650" lvl="0" marL="457200" rtl="0" algn="l">
              <a:lnSpc>
                <a:spcPct val="100000"/>
              </a:lnSpc>
              <a:spcBef>
                <a:spcPts val="1000"/>
              </a:spcBef>
              <a:spcAft>
                <a:spcPts val="0"/>
              </a:spcAft>
              <a:buSzPts val="2300"/>
              <a:buFont typeface="Arial"/>
              <a:buChar char="•"/>
            </a:pPr>
            <a:r>
              <a:rPr b="1" lang="en-US" sz="2300">
                <a:latin typeface="Arial"/>
                <a:ea typeface="Arial"/>
                <a:cs typeface="Arial"/>
                <a:sym typeface="Arial"/>
              </a:rPr>
              <a:t>Probability Bounds:</a:t>
            </a:r>
            <a:endParaRPr b="1" sz="2300">
              <a:latin typeface="Arial"/>
              <a:ea typeface="Arial"/>
              <a:cs typeface="Arial"/>
              <a:sym typeface="Arial"/>
            </a:endParaRPr>
          </a:p>
          <a:p>
            <a:pPr indent="-76200" lvl="0" marL="228600" rtl="0" algn="l">
              <a:lnSpc>
                <a:spcPct val="100000"/>
              </a:lnSpc>
              <a:spcBef>
                <a:spcPts val="1000"/>
              </a:spcBef>
              <a:spcAft>
                <a:spcPts val="0"/>
              </a:spcAft>
              <a:buClr>
                <a:schemeClr val="dk1"/>
              </a:buClr>
              <a:buSzPts val="1100"/>
              <a:buFont typeface="Arial"/>
              <a:buNone/>
            </a:pPr>
            <a:r>
              <a:rPr lang="en-US" sz="2300">
                <a:latin typeface="Arial"/>
                <a:ea typeface="Arial"/>
                <a:cs typeface="Arial"/>
                <a:sym typeface="Arial"/>
              </a:rPr>
              <a:t> 0 ≤ P(R &gt; threshold) ≤ 1</a:t>
            </a:r>
            <a:endParaRPr sz="2300">
              <a:latin typeface="Arial"/>
              <a:ea typeface="Arial"/>
              <a:cs typeface="Arial"/>
              <a:sym typeface="Arial"/>
            </a:endParaRPr>
          </a:p>
          <a:p>
            <a:pPr indent="-374650" lvl="0" marL="457200" rtl="0" algn="l">
              <a:lnSpc>
                <a:spcPct val="100000"/>
              </a:lnSpc>
              <a:spcBef>
                <a:spcPts val="1000"/>
              </a:spcBef>
              <a:spcAft>
                <a:spcPts val="0"/>
              </a:spcAft>
              <a:buSzPts val="2300"/>
              <a:buFont typeface="Arial"/>
              <a:buChar char="•"/>
            </a:pPr>
            <a:r>
              <a:rPr b="1" lang="en-US" sz="2300">
                <a:latin typeface="Arial"/>
                <a:ea typeface="Arial"/>
                <a:cs typeface="Arial"/>
                <a:sym typeface="Arial"/>
              </a:rPr>
              <a:t>AR(2) Stability:</a:t>
            </a:r>
            <a:br>
              <a:rPr b="1" lang="en-US" sz="2300">
                <a:latin typeface="Arial"/>
                <a:ea typeface="Arial"/>
                <a:cs typeface="Arial"/>
                <a:sym typeface="Arial"/>
              </a:rPr>
            </a:br>
            <a:r>
              <a:rPr lang="en-US" sz="2300">
                <a:latin typeface="Arial"/>
                <a:ea typeface="Arial"/>
                <a:cs typeface="Arial"/>
                <a:sym typeface="Arial"/>
              </a:rPr>
              <a:t> φ₁ + φ₂ &lt; 1</a:t>
            </a:r>
            <a:br>
              <a:rPr lang="en-US" sz="2300">
                <a:latin typeface="Arial"/>
                <a:ea typeface="Arial"/>
                <a:cs typeface="Arial"/>
                <a:sym typeface="Arial"/>
              </a:rPr>
            </a:br>
            <a:r>
              <a:rPr lang="en-US" sz="2300">
                <a:latin typeface="Arial"/>
                <a:ea typeface="Arial"/>
                <a:cs typeface="Arial"/>
                <a:sym typeface="Arial"/>
              </a:rPr>
              <a:t> φ₂ − φ₁ &lt; 1</a:t>
            </a:r>
            <a:br>
              <a:rPr lang="en-US" sz="2300">
                <a:latin typeface="Arial"/>
                <a:ea typeface="Arial"/>
                <a:cs typeface="Arial"/>
                <a:sym typeface="Arial"/>
              </a:rPr>
            </a:br>
            <a:r>
              <a:rPr lang="en-US" sz="2300">
                <a:latin typeface="Arial"/>
                <a:ea typeface="Arial"/>
                <a:cs typeface="Arial"/>
                <a:sym typeface="Arial"/>
              </a:rPr>
              <a:t> -1&lt;φ₂ &lt; 1</a:t>
            </a:r>
            <a:endParaRPr sz="2300">
              <a:latin typeface="Arial"/>
              <a:ea typeface="Arial"/>
              <a:cs typeface="Arial"/>
              <a:sym typeface="Arial"/>
            </a:endParaRPr>
          </a:p>
          <a:p>
            <a:pPr indent="-374650" lvl="0" marL="457200" rtl="0" algn="l">
              <a:lnSpc>
                <a:spcPct val="100000"/>
              </a:lnSpc>
              <a:spcBef>
                <a:spcPts val="0"/>
              </a:spcBef>
              <a:spcAft>
                <a:spcPts val="0"/>
              </a:spcAft>
              <a:buSzPts val="2300"/>
              <a:buFont typeface="Arial"/>
              <a:buChar char="•"/>
            </a:pPr>
            <a:r>
              <a:rPr b="1" lang="en-US" sz="2300">
                <a:latin typeface="Arial"/>
                <a:ea typeface="Arial"/>
                <a:cs typeface="Arial"/>
                <a:sym typeface="Arial"/>
              </a:rPr>
              <a:t>Performance (AUC):</a:t>
            </a:r>
            <a:br>
              <a:rPr b="1" lang="en-US" sz="2300">
                <a:latin typeface="Arial"/>
                <a:ea typeface="Arial"/>
                <a:cs typeface="Arial"/>
                <a:sym typeface="Arial"/>
              </a:rPr>
            </a:br>
            <a:r>
              <a:rPr lang="en-US" sz="2300">
                <a:latin typeface="Arial"/>
                <a:ea typeface="Arial"/>
                <a:cs typeface="Arial"/>
                <a:sym typeface="Arial"/>
              </a:rPr>
              <a:t> AUC &gt; 0.83 → Good model</a:t>
            </a:r>
            <a:br>
              <a:rPr lang="en-US" sz="2300">
                <a:latin typeface="Arial"/>
                <a:ea typeface="Arial"/>
                <a:cs typeface="Arial"/>
                <a:sym typeface="Arial"/>
              </a:rPr>
            </a:br>
            <a:r>
              <a:rPr lang="en-US" sz="2300">
                <a:latin typeface="Arial"/>
                <a:ea typeface="Arial"/>
                <a:cs typeface="Arial"/>
                <a:sym typeface="Arial"/>
              </a:rPr>
              <a:t> AUC = 0.5 → Random</a:t>
            </a:r>
            <a:br>
              <a:rPr lang="en-US" sz="2300">
                <a:latin typeface="Arial"/>
                <a:ea typeface="Arial"/>
                <a:cs typeface="Arial"/>
                <a:sym typeface="Arial"/>
              </a:rPr>
            </a:br>
            <a:r>
              <a:rPr lang="en-US" sz="2300">
                <a:latin typeface="Arial"/>
                <a:ea typeface="Arial"/>
                <a:cs typeface="Arial"/>
                <a:sym typeface="Arial"/>
              </a:rPr>
              <a:t> AUC = 1.0 → Perfect</a:t>
            </a:r>
            <a:endParaRPr sz="2300">
              <a:latin typeface="Arial"/>
              <a:ea typeface="Arial"/>
              <a:cs typeface="Arial"/>
              <a:sym typeface="Arial"/>
            </a:endParaRPr>
          </a:p>
          <a:p>
            <a:pPr indent="-76200" lvl="0" marL="228600" rtl="0" algn="l">
              <a:lnSpc>
                <a:spcPct val="100000"/>
              </a:lnSpc>
              <a:spcBef>
                <a:spcPts val="1000"/>
              </a:spcBef>
              <a:spcAft>
                <a:spcPts val="0"/>
              </a:spcAft>
              <a:buClr>
                <a:schemeClr val="dk1"/>
              </a:buClr>
              <a:buSzPts val="2220"/>
              <a:buFont typeface="Helvetica Neue Light"/>
              <a:buNone/>
            </a:pPr>
            <a:r>
              <a:t/>
            </a:r>
            <a:endParaRPr sz="2300"/>
          </a:p>
        </p:txBody>
      </p:sp>
      <p:sp>
        <p:nvSpPr>
          <p:cNvPr id="192" name="Google Shape;192;p24"/>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1" lang="en-US"/>
              <a:t>|</a:t>
            </a:r>
            <a:r>
              <a:rPr lang="en-US"/>
              <a:t>  </a:t>
            </a:r>
            <a:fld id="{00000000-1234-1234-1234-123412341234}" type="slidenum">
              <a:rPr lang="en-US"/>
              <a:t>‹#›</a:t>
            </a:fld>
            <a:endParaRPr/>
          </a:p>
        </p:txBody>
      </p:sp>
      <p:sp>
        <p:nvSpPr>
          <p:cNvPr id="193" name="Google Shape;193;p24"/>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01/07/19</a:t>
            </a:r>
            <a:endParaRPr/>
          </a:p>
        </p:txBody>
      </p:sp>
      <p:pic>
        <p:nvPicPr>
          <p:cNvPr id="194" name="Google Shape;194;p24"/>
          <p:cNvPicPr preferRelativeResize="0"/>
          <p:nvPr/>
        </p:nvPicPr>
        <p:blipFill>
          <a:blip r:embed="rId3">
            <a:alphaModFix/>
          </a:blip>
          <a:stretch>
            <a:fillRect/>
          </a:stretch>
        </p:blipFill>
        <p:spPr>
          <a:xfrm>
            <a:off x="6969901" y="2530800"/>
            <a:ext cx="3533775" cy="990600"/>
          </a:xfrm>
          <a:prstGeom prst="rect">
            <a:avLst/>
          </a:prstGeom>
          <a:noFill/>
          <a:ln>
            <a:noFill/>
          </a:ln>
        </p:spPr>
      </p:pic>
      <p:sp>
        <p:nvSpPr>
          <p:cNvPr id="195" name="Google Shape;195;p24"/>
          <p:cNvSpPr txBox="1"/>
          <p:nvPr/>
        </p:nvSpPr>
        <p:spPr>
          <a:xfrm>
            <a:off x="6948000" y="3650100"/>
            <a:ext cx="4831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rPr>
              <a:t>AR(2) Stationary bounds</a:t>
            </a:r>
            <a:endParaRPr sz="2300">
              <a:solidFill>
                <a:schemeClr val="dk1"/>
              </a:solidFill>
            </a:endParaRPr>
          </a:p>
          <a:p>
            <a:pPr indent="0" lvl="0" marL="0" rtl="0" algn="l">
              <a:spcBef>
                <a:spcPts val="0"/>
              </a:spcBef>
              <a:spcAft>
                <a:spcPts val="0"/>
              </a:spcAft>
              <a:buNone/>
            </a:pPr>
            <a:r>
              <a:rPr lang="en-US" sz="900">
                <a:solidFill>
                  <a:srgbClr val="FFFFFF"/>
                </a:solidFill>
              </a:rPr>
              <a:t>φ₁ + φ₂ &lt; 1 | φ₂ − φ₁ &lt; 1 | −1 &lt; φ₂ &lt; 1</a:t>
            </a:r>
            <a:endParaRPr sz="23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txBox="1"/>
          <p:nvPr>
            <p:ph type="title"/>
          </p:nvPr>
        </p:nvSpPr>
        <p:spPr>
          <a:xfrm>
            <a:off x="594303" y="2667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Bounds used in the problem</a:t>
            </a:r>
            <a:endParaRPr/>
          </a:p>
        </p:txBody>
      </p:sp>
      <p:sp>
        <p:nvSpPr>
          <p:cNvPr id="201" name="Google Shape;201;p25"/>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1" lang="en-US"/>
              <a:t>|</a:t>
            </a:r>
            <a:r>
              <a:rPr lang="en-US"/>
              <a:t>  </a:t>
            </a:r>
            <a:fld id="{00000000-1234-1234-1234-123412341234}" type="slidenum">
              <a:rPr lang="en-US"/>
              <a:t>‹#›</a:t>
            </a:fld>
            <a:endParaRPr/>
          </a:p>
        </p:txBody>
      </p:sp>
      <p:sp>
        <p:nvSpPr>
          <p:cNvPr id="202" name="Google Shape;202;p25"/>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01/07/19</a:t>
            </a:r>
            <a:endParaRPr/>
          </a:p>
        </p:txBody>
      </p:sp>
      <p:sp>
        <p:nvSpPr>
          <p:cNvPr id="203" name="Google Shape;203;p25"/>
          <p:cNvSpPr txBox="1"/>
          <p:nvPr/>
        </p:nvSpPr>
        <p:spPr>
          <a:xfrm>
            <a:off x="594300" y="1415400"/>
            <a:ext cx="7764000" cy="3724800"/>
          </a:xfrm>
          <a:prstGeom prst="rect">
            <a:avLst/>
          </a:prstGeom>
          <a:noFill/>
          <a:ln>
            <a:noFill/>
          </a:ln>
        </p:spPr>
        <p:txBody>
          <a:bodyPr anchorCtr="0" anchor="t" bIns="91425" lIns="91425" spcFirstLastPara="1" rIns="91425" wrap="square" tIns="91425">
            <a:spAutoFit/>
          </a:bodyPr>
          <a:lstStyle/>
          <a:p>
            <a:pPr indent="-374650" lvl="0" marL="457200" rtl="0" algn="l">
              <a:lnSpc>
                <a:spcPct val="100000"/>
              </a:lnSpc>
              <a:spcBef>
                <a:spcPts val="1000"/>
              </a:spcBef>
              <a:spcAft>
                <a:spcPts val="0"/>
              </a:spcAft>
              <a:buClr>
                <a:schemeClr val="dk1"/>
              </a:buClr>
              <a:buSzPts val="2300"/>
              <a:buChar char="●"/>
            </a:pPr>
            <a:r>
              <a:rPr b="1" lang="en-US" sz="2300">
                <a:solidFill>
                  <a:schemeClr val="dk1"/>
                </a:solidFill>
              </a:rPr>
              <a:t>Lead Time:</a:t>
            </a:r>
            <a:br>
              <a:rPr b="1" lang="en-US" sz="2300">
                <a:solidFill>
                  <a:schemeClr val="dk1"/>
                </a:solidFill>
              </a:rPr>
            </a:br>
            <a:r>
              <a:rPr lang="en-US" sz="2300">
                <a:solidFill>
                  <a:schemeClr val="dk1"/>
                </a:solidFill>
              </a:rPr>
              <a:t> 0 ≤ t ≤ 6hr</a:t>
            </a:r>
            <a:endParaRPr sz="2300">
              <a:solidFill>
                <a:schemeClr val="dk1"/>
              </a:solidFill>
            </a:endParaRPr>
          </a:p>
          <a:p>
            <a:pPr indent="-374650" lvl="0" marL="457200" rtl="0" algn="l">
              <a:lnSpc>
                <a:spcPct val="100000"/>
              </a:lnSpc>
              <a:spcBef>
                <a:spcPts val="0"/>
              </a:spcBef>
              <a:spcAft>
                <a:spcPts val="0"/>
              </a:spcAft>
              <a:buClr>
                <a:schemeClr val="dk1"/>
              </a:buClr>
              <a:buSzPts val="2300"/>
              <a:buChar char="●"/>
            </a:pPr>
            <a:r>
              <a:rPr b="1" lang="en-US" sz="2300">
                <a:solidFill>
                  <a:schemeClr val="dk1"/>
                </a:solidFill>
              </a:rPr>
              <a:t>Calibration:</a:t>
            </a:r>
            <a:br>
              <a:rPr b="1" lang="en-US" sz="2300">
                <a:solidFill>
                  <a:schemeClr val="dk1"/>
                </a:solidFill>
              </a:rPr>
            </a:br>
            <a:r>
              <a:rPr lang="en-US" sz="2300">
                <a:solidFill>
                  <a:schemeClr val="dk1"/>
                </a:solidFill>
              </a:rPr>
              <a:t> Spread ≈ RMSE → Well calibrated</a:t>
            </a:r>
            <a:br>
              <a:rPr lang="en-US" sz="2300">
                <a:solidFill>
                  <a:schemeClr val="dk1"/>
                </a:solidFill>
              </a:rPr>
            </a:br>
            <a:r>
              <a:rPr lang="en-US" sz="2300">
                <a:solidFill>
                  <a:schemeClr val="dk1"/>
                </a:solidFill>
              </a:rPr>
              <a:t> Spread &lt; RMSE → Underconfident</a:t>
            </a:r>
            <a:br>
              <a:rPr lang="en-US" sz="2300">
                <a:solidFill>
                  <a:schemeClr val="dk1"/>
                </a:solidFill>
              </a:rPr>
            </a:br>
            <a:r>
              <a:rPr lang="en-US" sz="2300">
                <a:solidFill>
                  <a:schemeClr val="dk1"/>
                </a:solidFill>
              </a:rPr>
              <a:t> Spread &gt; RMSE → Overconfident</a:t>
            </a:r>
            <a:endParaRPr sz="2300">
              <a:solidFill>
                <a:schemeClr val="dk1"/>
              </a:solidFill>
            </a:endParaRPr>
          </a:p>
          <a:p>
            <a:pPr indent="-374650" lvl="0" marL="457200" rtl="0" algn="l">
              <a:lnSpc>
                <a:spcPct val="100000"/>
              </a:lnSpc>
              <a:spcBef>
                <a:spcPts val="0"/>
              </a:spcBef>
              <a:spcAft>
                <a:spcPts val="0"/>
              </a:spcAft>
              <a:buClr>
                <a:schemeClr val="dk1"/>
              </a:buClr>
              <a:buSzPts val="2300"/>
              <a:buChar char="●"/>
            </a:pPr>
            <a:r>
              <a:rPr b="1" lang="en-US" sz="2300">
                <a:solidFill>
                  <a:schemeClr val="dk1"/>
                </a:solidFill>
              </a:rPr>
              <a:t>Uncertainty Growth:</a:t>
            </a:r>
            <a:br>
              <a:rPr b="1" lang="en-US" sz="2300">
                <a:solidFill>
                  <a:schemeClr val="dk1"/>
                </a:solidFill>
              </a:rPr>
            </a:br>
            <a:r>
              <a:rPr lang="en-US" sz="2300">
                <a:solidFill>
                  <a:schemeClr val="dk1"/>
                </a:solidFill>
              </a:rPr>
              <a:t> Uncertainty ↑ with lead time</a:t>
            </a:r>
            <a:endParaRPr sz="2300">
              <a:solidFill>
                <a:schemeClr val="dk1"/>
              </a:solidFill>
            </a:endParaRPr>
          </a:p>
          <a:p>
            <a:pPr indent="-374650" lvl="0" marL="457200" rtl="0" algn="l">
              <a:lnSpc>
                <a:spcPct val="100000"/>
              </a:lnSpc>
              <a:spcBef>
                <a:spcPts val="0"/>
              </a:spcBef>
              <a:spcAft>
                <a:spcPts val="0"/>
              </a:spcAft>
              <a:buClr>
                <a:schemeClr val="dk1"/>
              </a:buClr>
              <a:buSzPts val="2300"/>
              <a:buChar char="●"/>
            </a:pPr>
            <a:r>
              <a:rPr b="1" lang="en-US" sz="2300">
                <a:solidFill>
                  <a:schemeClr val="dk1"/>
                </a:solidFill>
              </a:rPr>
              <a:t>Noise Constraint:</a:t>
            </a:r>
            <a:br>
              <a:rPr b="1" lang="en-US" sz="2300">
                <a:solidFill>
                  <a:schemeClr val="dk1"/>
                </a:solidFill>
              </a:rPr>
            </a:br>
            <a:r>
              <a:rPr lang="en-US" sz="2300">
                <a:solidFill>
                  <a:schemeClr val="dk1"/>
                </a:solidFill>
              </a:rPr>
              <a:t>φ_j0 = √(1 − Σ ρ_jk φ_jk)</a:t>
            </a:r>
            <a:endParaRPr sz="2300">
              <a:solidFill>
                <a:schemeClr val="dk1"/>
              </a:solidFill>
              <a:latin typeface="Helvetica Neue Light"/>
              <a:ea typeface="Helvetica Neue Light"/>
              <a:cs typeface="Helvetica Neue Light"/>
              <a:sym typeface="Helvetica Neue Light"/>
            </a:endParaRPr>
          </a:p>
        </p:txBody>
      </p:sp>
      <p:pic>
        <p:nvPicPr>
          <p:cNvPr id="204" name="Google Shape;204;p25"/>
          <p:cNvPicPr preferRelativeResize="0"/>
          <p:nvPr/>
        </p:nvPicPr>
        <p:blipFill>
          <a:blip r:embed="rId3">
            <a:alphaModFix/>
          </a:blip>
          <a:stretch>
            <a:fillRect/>
          </a:stretch>
        </p:blipFill>
        <p:spPr>
          <a:xfrm>
            <a:off x="6264700" y="1234050"/>
            <a:ext cx="5089075" cy="2542325"/>
          </a:xfrm>
          <a:prstGeom prst="rect">
            <a:avLst/>
          </a:prstGeom>
          <a:noFill/>
          <a:ln>
            <a:noFill/>
          </a:ln>
        </p:spPr>
      </p:pic>
      <p:pic>
        <p:nvPicPr>
          <p:cNvPr id="205" name="Google Shape;205;p25"/>
          <p:cNvPicPr preferRelativeResize="0"/>
          <p:nvPr/>
        </p:nvPicPr>
        <p:blipFill>
          <a:blip r:embed="rId4">
            <a:alphaModFix/>
          </a:blip>
          <a:stretch>
            <a:fillRect/>
          </a:stretch>
        </p:blipFill>
        <p:spPr>
          <a:xfrm>
            <a:off x="6517825" y="3955527"/>
            <a:ext cx="4835958" cy="256909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type="title"/>
          </p:nvPr>
        </p:nvSpPr>
        <p:spPr>
          <a:xfrm>
            <a:off x="594303" y="2667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Coding and Simulation</a:t>
            </a:r>
            <a:endParaRPr/>
          </a:p>
        </p:txBody>
      </p:sp>
      <p:sp>
        <p:nvSpPr>
          <p:cNvPr id="211" name="Google Shape;211;p26"/>
          <p:cNvSpPr txBox="1"/>
          <p:nvPr>
            <p:ph idx="1" type="body"/>
          </p:nvPr>
        </p:nvSpPr>
        <p:spPr>
          <a:xfrm>
            <a:off x="582427" y="1768950"/>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2300">
                <a:latin typeface="Arial"/>
                <a:ea typeface="Arial"/>
                <a:cs typeface="Arial"/>
                <a:sym typeface="Arial"/>
              </a:rPr>
              <a:t>1. Tools &amp; Library Used</a:t>
            </a:r>
            <a:endParaRPr b="1" sz="2300">
              <a:latin typeface="Arial"/>
              <a:ea typeface="Arial"/>
              <a:cs typeface="Arial"/>
              <a:sym typeface="Arial"/>
            </a:endParaRPr>
          </a:p>
          <a:p>
            <a:pPr indent="-374650" lvl="0" marL="457200" rtl="0" algn="l">
              <a:lnSpc>
                <a:spcPct val="115000"/>
              </a:lnSpc>
              <a:spcBef>
                <a:spcPts val="1200"/>
              </a:spcBef>
              <a:spcAft>
                <a:spcPts val="0"/>
              </a:spcAft>
              <a:buSzPts val="2300"/>
              <a:buFont typeface="Arial"/>
              <a:buChar char="●"/>
            </a:pPr>
            <a:r>
              <a:rPr lang="en-US" sz="2300">
                <a:latin typeface="Arial"/>
                <a:ea typeface="Arial"/>
                <a:cs typeface="Arial"/>
                <a:sym typeface="Arial"/>
              </a:rPr>
              <a:t>Python</a:t>
            </a:r>
            <a:endParaRPr sz="2300">
              <a:latin typeface="Arial"/>
              <a:ea typeface="Arial"/>
              <a:cs typeface="Arial"/>
              <a:sym typeface="Arial"/>
            </a:endParaRPr>
          </a:p>
          <a:p>
            <a:pPr indent="-374650" lvl="0" marL="457200" rtl="0" algn="l">
              <a:lnSpc>
                <a:spcPct val="115000"/>
              </a:lnSpc>
              <a:spcBef>
                <a:spcPts val="0"/>
              </a:spcBef>
              <a:spcAft>
                <a:spcPts val="0"/>
              </a:spcAft>
              <a:buSzPts val="2300"/>
              <a:buFont typeface="Arial"/>
              <a:buChar char="●"/>
            </a:pPr>
            <a:r>
              <a:rPr lang="en-US" sz="2300">
                <a:latin typeface="Arial"/>
                <a:ea typeface="Arial"/>
                <a:cs typeface="Arial"/>
                <a:sym typeface="Arial"/>
              </a:rPr>
              <a:t>PySTEPS (precipitation nowcasting library)</a:t>
            </a:r>
            <a:endParaRPr sz="2300">
              <a:latin typeface="Arial"/>
              <a:ea typeface="Arial"/>
              <a:cs typeface="Arial"/>
              <a:sym typeface="Arial"/>
            </a:endParaRPr>
          </a:p>
          <a:p>
            <a:pPr indent="-374650" lvl="0" marL="457200" rtl="0" algn="l">
              <a:lnSpc>
                <a:spcPct val="115000"/>
              </a:lnSpc>
              <a:spcBef>
                <a:spcPts val="0"/>
              </a:spcBef>
              <a:spcAft>
                <a:spcPts val="0"/>
              </a:spcAft>
              <a:buSzPts val="2300"/>
              <a:buFont typeface="Arial"/>
              <a:buChar char="●"/>
            </a:pPr>
            <a:r>
              <a:rPr lang="en-US" sz="2300">
                <a:latin typeface="Arial"/>
                <a:ea typeface="Arial"/>
                <a:cs typeface="Arial"/>
                <a:sym typeface="Arial"/>
              </a:rPr>
              <a:t>NumPy, Matplotlib</a:t>
            </a:r>
            <a:endParaRPr sz="2300">
              <a:latin typeface="Arial"/>
              <a:ea typeface="Arial"/>
              <a:cs typeface="Arial"/>
              <a:sym typeface="Arial"/>
            </a:endParaRPr>
          </a:p>
          <a:p>
            <a:pPr indent="0" lvl="0" marL="457200" rtl="0" algn="l">
              <a:lnSpc>
                <a:spcPct val="115000"/>
              </a:lnSpc>
              <a:spcBef>
                <a:spcPts val="1200"/>
              </a:spcBef>
              <a:spcAft>
                <a:spcPts val="0"/>
              </a:spcAft>
              <a:buNone/>
            </a:pPr>
            <a:r>
              <a:t/>
            </a:r>
            <a:endParaRPr sz="23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2300">
                <a:latin typeface="Arial"/>
                <a:ea typeface="Arial"/>
                <a:cs typeface="Arial"/>
                <a:sym typeface="Arial"/>
              </a:rPr>
              <a:t>2. Input Data</a:t>
            </a:r>
            <a:endParaRPr b="1" sz="2300">
              <a:latin typeface="Arial"/>
              <a:ea typeface="Arial"/>
              <a:cs typeface="Arial"/>
              <a:sym typeface="Arial"/>
            </a:endParaRPr>
          </a:p>
          <a:p>
            <a:pPr indent="-374650" lvl="0" marL="457200" rtl="0" algn="l">
              <a:lnSpc>
                <a:spcPct val="115000"/>
              </a:lnSpc>
              <a:spcBef>
                <a:spcPts val="1200"/>
              </a:spcBef>
              <a:spcAft>
                <a:spcPts val="0"/>
              </a:spcAft>
              <a:buSzPts val="2300"/>
              <a:buFont typeface="Arial"/>
              <a:buChar char="●"/>
            </a:pPr>
            <a:r>
              <a:rPr lang="en-US" sz="2300">
                <a:latin typeface="Arial"/>
                <a:ea typeface="Arial"/>
                <a:cs typeface="Arial"/>
                <a:sym typeface="Arial"/>
              </a:rPr>
              <a:t>Radar precipitation images (time-series)</a:t>
            </a:r>
            <a:endParaRPr sz="2300">
              <a:latin typeface="Arial"/>
              <a:ea typeface="Arial"/>
              <a:cs typeface="Arial"/>
              <a:sym typeface="Arial"/>
            </a:endParaRPr>
          </a:p>
          <a:p>
            <a:pPr indent="-374650" lvl="0" marL="457200" rtl="0" algn="l">
              <a:lnSpc>
                <a:spcPct val="115000"/>
              </a:lnSpc>
              <a:spcBef>
                <a:spcPts val="0"/>
              </a:spcBef>
              <a:spcAft>
                <a:spcPts val="0"/>
              </a:spcAft>
              <a:buSzPts val="2300"/>
              <a:buFont typeface="Arial"/>
              <a:buChar char="●"/>
            </a:pPr>
            <a:r>
              <a:rPr lang="en-US" sz="2300">
                <a:latin typeface="Arial"/>
                <a:ea typeface="Arial"/>
                <a:cs typeface="Arial"/>
                <a:sym typeface="Arial"/>
              </a:rPr>
              <a:t>Format: 3D array (time × height × width)</a:t>
            </a:r>
            <a:endParaRPr sz="23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228600" rtl="0" algn="l">
              <a:lnSpc>
                <a:spcPct val="180000"/>
              </a:lnSpc>
              <a:spcBef>
                <a:spcPts val="1200"/>
              </a:spcBef>
              <a:spcAft>
                <a:spcPts val="0"/>
              </a:spcAft>
              <a:buNone/>
            </a:pPr>
            <a:r>
              <a:t/>
            </a:r>
            <a:endParaRPr sz="2320"/>
          </a:p>
          <a:p>
            <a:pPr indent="-76200" lvl="0" marL="228600" rtl="0" algn="l">
              <a:lnSpc>
                <a:spcPct val="180000"/>
              </a:lnSpc>
              <a:spcBef>
                <a:spcPts val="1000"/>
              </a:spcBef>
              <a:spcAft>
                <a:spcPts val="0"/>
              </a:spcAft>
              <a:buClr>
                <a:schemeClr val="dk1"/>
              </a:buClr>
              <a:buSzPts val="2220"/>
              <a:buFont typeface="Helvetica Neue Light"/>
              <a:buNone/>
            </a:pPr>
            <a:r>
              <a:t/>
            </a:r>
            <a:endParaRPr sz="2320"/>
          </a:p>
        </p:txBody>
      </p:sp>
      <p:sp>
        <p:nvSpPr>
          <p:cNvPr id="212" name="Google Shape;212;p26"/>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1" lang="en-US"/>
              <a:t>|</a:t>
            </a:r>
            <a:r>
              <a:rPr lang="en-US"/>
              <a:t>  </a:t>
            </a:r>
            <a:fld id="{00000000-1234-1234-1234-123412341234}" type="slidenum">
              <a:rPr lang="en-US"/>
              <a:t>‹#›</a:t>
            </a:fld>
            <a:endParaRPr/>
          </a:p>
        </p:txBody>
      </p:sp>
      <p:sp>
        <p:nvSpPr>
          <p:cNvPr id="213" name="Google Shape;213;p26"/>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01/07/19</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type="title"/>
          </p:nvPr>
        </p:nvSpPr>
        <p:spPr>
          <a:xfrm>
            <a:off x="594303" y="2667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Coding and Simulation</a:t>
            </a:r>
            <a:endParaRPr/>
          </a:p>
        </p:txBody>
      </p:sp>
      <p:sp>
        <p:nvSpPr>
          <p:cNvPr id="219" name="Google Shape;219;p27"/>
          <p:cNvSpPr txBox="1"/>
          <p:nvPr>
            <p:ph idx="1" type="body"/>
          </p:nvPr>
        </p:nvSpPr>
        <p:spPr>
          <a:xfrm>
            <a:off x="790500" y="1468600"/>
            <a:ext cx="10307700" cy="4660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2300">
                <a:latin typeface="Arial"/>
                <a:ea typeface="Arial"/>
                <a:cs typeface="Arial"/>
                <a:sym typeface="Arial"/>
              </a:rPr>
              <a:t>3. Steps in Implementation</a:t>
            </a:r>
            <a:endParaRPr b="1" sz="2300">
              <a:latin typeface="Arial"/>
              <a:ea typeface="Arial"/>
              <a:cs typeface="Arial"/>
              <a:sym typeface="Arial"/>
            </a:endParaRPr>
          </a:p>
          <a:p>
            <a:pPr indent="-374650" lvl="0" marL="457200" rtl="0" algn="l">
              <a:lnSpc>
                <a:spcPct val="115000"/>
              </a:lnSpc>
              <a:spcBef>
                <a:spcPts val="1200"/>
              </a:spcBef>
              <a:spcAft>
                <a:spcPts val="0"/>
              </a:spcAft>
              <a:buSzPts val="2300"/>
              <a:buFont typeface="Arial"/>
              <a:buChar char="●"/>
            </a:pPr>
            <a:r>
              <a:rPr lang="en-US" sz="2300">
                <a:latin typeface="Arial"/>
                <a:ea typeface="Arial"/>
                <a:cs typeface="Arial"/>
                <a:sym typeface="Arial"/>
              </a:rPr>
              <a:t>Motion estimation using DARTS</a:t>
            </a:r>
            <a:endParaRPr sz="2300">
              <a:latin typeface="Arial"/>
              <a:ea typeface="Arial"/>
              <a:cs typeface="Arial"/>
              <a:sym typeface="Arial"/>
            </a:endParaRPr>
          </a:p>
          <a:p>
            <a:pPr indent="-374650" lvl="0" marL="457200" rtl="0" algn="l">
              <a:lnSpc>
                <a:spcPct val="115000"/>
              </a:lnSpc>
              <a:spcBef>
                <a:spcPts val="0"/>
              </a:spcBef>
              <a:spcAft>
                <a:spcPts val="0"/>
              </a:spcAft>
              <a:buSzPts val="2300"/>
              <a:buFont typeface="Arial"/>
              <a:buChar char="●"/>
            </a:pPr>
            <a:r>
              <a:rPr lang="en-US" sz="2300">
                <a:latin typeface="Arial"/>
                <a:ea typeface="Arial"/>
                <a:cs typeface="Arial"/>
                <a:sym typeface="Arial"/>
              </a:rPr>
              <a:t>Deterministic: Extrapolation</a:t>
            </a:r>
            <a:endParaRPr sz="2300">
              <a:latin typeface="Arial"/>
              <a:ea typeface="Arial"/>
              <a:cs typeface="Arial"/>
              <a:sym typeface="Arial"/>
            </a:endParaRPr>
          </a:p>
          <a:p>
            <a:pPr indent="-374650" lvl="0" marL="457200" rtl="0" algn="l">
              <a:lnSpc>
                <a:spcPct val="115000"/>
              </a:lnSpc>
              <a:spcBef>
                <a:spcPts val="0"/>
              </a:spcBef>
              <a:spcAft>
                <a:spcPts val="0"/>
              </a:spcAft>
              <a:buSzPts val="2300"/>
              <a:buFont typeface="Arial"/>
              <a:buChar char="●"/>
            </a:pPr>
            <a:r>
              <a:rPr lang="en-US" sz="2300">
                <a:latin typeface="Arial"/>
                <a:ea typeface="Arial"/>
                <a:cs typeface="Arial"/>
                <a:sym typeface="Arial"/>
              </a:rPr>
              <a:t>Probabilistic: STEPS (with noise + ensemble)</a:t>
            </a:r>
            <a:endParaRPr sz="2300">
              <a:latin typeface="Arial"/>
              <a:ea typeface="Arial"/>
              <a:cs typeface="Arial"/>
              <a:sym typeface="Arial"/>
            </a:endParaRPr>
          </a:p>
          <a:p>
            <a:pPr indent="0" lvl="0" marL="0" rtl="0" algn="l">
              <a:lnSpc>
                <a:spcPct val="115000"/>
              </a:lnSpc>
              <a:spcBef>
                <a:spcPts val="1200"/>
              </a:spcBef>
              <a:spcAft>
                <a:spcPts val="0"/>
              </a:spcAft>
              <a:buNone/>
            </a:pPr>
            <a:r>
              <a:rPr b="1" lang="en-US">
                <a:latin typeface="Arial"/>
                <a:ea typeface="Arial"/>
                <a:cs typeface="Arial"/>
                <a:sym typeface="Arial"/>
              </a:rPr>
              <a:t>4. Simulation Setup</a:t>
            </a:r>
            <a:endParaRPr b="1">
              <a:latin typeface="Arial"/>
              <a:ea typeface="Arial"/>
              <a:cs typeface="Arial"/>
              <a:sym typeface="Arial"/>
            </a:endParaRPr>
          </a:p>
          <a:p>
            <a:pPr indent="-381000" lvl="0" marL="457200" rtl="0" algn="l">
              <a:lnSpc>
                <a:spcPct val="115000"/>
              </a:lnSpc>
              <a:spcBef>
                <a:spcPts val="1200"/>
              </a:spcBef>
              <a:spcAft>
                <a:spcPts val="0"/>
              </a:spcAft>
              <a:buSzPts val="2400"/>
              <a:buFont typeface="Arial"/>
              <a:buChar char="●"/>
            </a:pPr>
            <a:r>
              <a:rPr lang="en-US">
                <a:latin typeface="Arial"/>
                <a:ea typeface="Arial"/>
                <a:cs typeface="Arial"/>
                <a:sym typeface="Arial"/>
              </a:rPr>
              <a:t>Forecast horizon: 5–60 minutes</a:t>
            </a:r>
            <a:endParaRPr>
              <a:latin typeface="Arial"/>
              <a:ea typeface="Arial"/>
              <a:cs typeface="Arial"/>
              <a:sym typeface="Arial"/>
            </a:endParaRPr>
          </a:p>
          <a:p>
            <a:pPr indent="-381000" lvl="0" marL="457200" rtl="0" algn="l">
              <a:lnSpc>
                <a:spcPct val="115000"/>
              </a:lnSpc>
              <a:spcBef>
                <a:spcPts val="0"/>
              </a:spcBef>
              <a:spcAft>
                <a:spcPts val="0"/>
              </a:spcAft>
              <a:buSzPts val="2400"/>
              <a:buFont typeface="Arial"/>
              <a:buChar char="●"/>
            </a:pPr>
            <a:r>
              <a:rPr lang="en-US">
                <a:latin typeface="Arial"/>
                <a:ea typeface="Arial"/>
                <a:cs typeface="Arial"/>
                <a:sym typeface="Arial"/>
              </a:rPr>
              <a:t>Ensemble size: 10–20 members</a:t>
            </a:r>
            <a:endParaRPr>
              <a:latin typeface="Arial"/>
              <a:ea typeface="Arial"/>
              <a:cs typeface="Arial"/>
              <a:sym typeface="Arial"/>
            </a:endParaRPr>
          </a:p>
          <a:p>
            <a:pPr indent="-381000" lvl="0" marL="457200" rtl="0" algn="l">
              <a:lnSpc>
                <a:spcPct val="115000"/>
              </a:lnSpc>
              <a:spcBef>
                <a:spcPts val="0"/>
              </a:spcBef>
              <a:spcAft>
                <a:spcPts val="0"/>
              </a:spcAft>
              <a:buSzPts val="2400"/>
              <a:buFont typeface="Arial"/>
              <a:buChar char="●"/>
            </a:pPr>
            <a:r>
              <a:rPr lang="en-US">
                <a:latin typeface="Arial"/>
                <a:ea typeface="Arial"/>
                <a:cs typeface="Arial"/>
                <a:sym typeface="Arial"/>
              </a:rPr>
              <a:t>Comparison between:</a:t>
            </a:r>
            <a:endParaRPr>
              <a:latin typeface="Arial"/>
              <a:ea typeface="Arial"/>
              <a:cs typeface="Arial"/>
              <a:sym typeface="Arial"/>
            </a:endParaRPr>
          </a:p>
          <a:p>
            <a:pPr indent="-381000" lvl="1" marL="914400" rtl="0" algn="l">
              <a:lnSpc>
                <a:spcPct val="115000"/>
              </a:lnSpc>
              <a:spcBef>
                <a:spcPts val="0"/>
              </a:spcBef>
              <a:spcAft>
                <a:spcPts val="0"/>
              </a:spcAft>
              <a:buSzPts val="2400"/>
              <a:buFont typeface="Arial"/>
              <a:buChar char="○"/>
            </a:pPr>
            <a:r>
              <a:rPr lang="en-US" sz="2400">
                <a:latin typeface="Arial"/>
                <a:ea typeface="Arial"/>
                <a:cs typeface="Arial"/>
                <a:sym typeface="Arial"/>
              </a:rPr>
              <a:t>Extrapolation vs STEPS </a:t>
            </a:r>
            <a:endParaRPr sz="2400">
              <a:latin typeface="Arial"/>
              <a:ea typeface="Arial"/>
              <a:cs typeface="Arial"/>
              <a:sym typeface="Arial"/>
            </a:endParaRPr>
          </a:p>
          <a:p>
            <a:pPr indent="0" lvl="0" marL="0" rtl="0" algn="l">
              <a:lnSpc>
                <a:spcPct val="115000"/>
              </a:lnSpc>
              <a:spcBef>
                <a:spcPts val="1200"/>
              </a:spcBef>
              <a:spcAft>
                <a:spcPts val="0"/>
              </a:spcAft>
              <a:buNone/>
            </a:pPr>
            <a:r>
              <a:t/>
            </a:r>
            <a:endParaRPr b="1" sz="2300">
              <a:latin typeface="Arial"/>
              <a:ea typeface="Arial"/>
              <a:cs typeface="Arial"/>
              <a:sym typeface="Arial"/>
            </a:endParaRPr>
          </a:p>
          <a:p>
            <a:pPr indent="0" lvl="0" marL="457200" rtl="0" algn="l">
              <a:lnSpc>
                <a:spcPct val="115000"/>
              </a:lnSpc>
              <a:spcBef>
                <a:spcPts val="1200"/>
              </a:spcBef>
              <a:spcAft>
                <a:spcPts val="0"/>
              </a:spcAft>
              <a:buNone/>
            </a:pPr>
            <a:r>
              <a:t/>
            </a:r>
            <a:endParaRPr sz="23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228600" rtl="0" algn="l">
              <a:lnSpc>
                <a:spcPct val="180000"/>
              </a:lnSpc>
              <a:spcBef>
                <a:spcPts val="1200"/>
              </a:spcBef>
              <a:spcAft>
                <a:spcPts val="0"/>
              </a:spcAft>
              <a:buNone/>
            </a:pPr>
            <a:r>
              <a:t/>
            </a:r>
            <a:endParaRPr sz="2320"/>
          </a:p>
          <a:p>
            <a:pPr indent="-76200" lvl="0" marL="228600" rtl="0" algn="l">
              <a:lnSpc>
                <a:spcPct val="180000"/>
              </a:lnSpc>
              <a:spcBef>
                <a:spcPts val="1000"/>
              </a:spcBef>
              <a:spcAft>
                <a:spcPts val="0"/>
              </a:spcAft>
              <a:buClr>
                <a:schemeClr val="dk1"/>
              </a:buClr>
              <a:buSzPts val="2220"/>
              <a:buFont typeface="Helvetica Neue Light"/>
              <a:buNone/>
            </a:pPr>
            <a:r>
              <a:t/>
            </a:r>
            <a:endParaRPr sz="2320"/>
          </a:p>
        </p:txBody>
      </p:sp>
      <p:sp>
        <p:nvSpPr>
          <p:cNvPr id="220" name="Google Shape;220;p27"/>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1" lang="en-US"/>
              <a:t>|</a:t>
            </a:r>
            <a:r>
              <a:rPr lang="en-US"/>
              <a:t>  </a:t>
            </a:r>
            <a:fld id="{00000000-1234-1234-1234-123412341234}" type="slidenum">
              <a:rPr lang="en-US"/>
              <a:t>‹#›</a:t>
            </a:fld>
            <a:endParaRPr/>
          </a:p>
        </p:txBody>
      </p:sp>
      <p:sp>
        <p:nvSpPr>
          <p:cNvPr id="221" name="Google Shape;221;p27"/>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01/07/19</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ph type="title"/>
          </p:nvPr>
        </p:nvSpPr>
        <p:spPr>
          <a:xfrm>
            <a:off x="594303" y="2667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Results and Comparison</a:t>
            </a:r>
            <a:endParaRPr/>
          </a:p>
        </p:txBody>
      </p:sp>
      <p:sp>
        <p:nvSpPr>
          <p:cNvPr id="227" name="Google Shape;227;p28"/>
          <p:cNvSpPr txBox="1"/>
          <p:nvPr>
            <p:ph idx="1" type="body"/>
          </p:nvPr>
        </p:nvSpPr>
        <p:spPr>
          <a:xfrm>
            <a:off x="790500" y="1468600"/>
            <a:ext cx="10307700" cy="4660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2300">
                <a:latin typeface="Arial"/>
                <a:ea typeface="Arial"/>
                <a:cs typeface="Arial"/>
                <a:sym typeface="Arial"/>
              </a:rPr>
              <a:t>1. Visual Observations</a:t>
            </a:r>
            <a:endParaRPr b="1" sz="2300">
              <a:latin typeface="Arial"/>
              <a:ea typeface="Arial"/>
              <a:cs typeface="Arial"/>
              <a:sym typeface="Arial"/>
            </a:endParaRPr>
          </a:p>
          <a:p>
            <a:pPr indent="-374650" lvl="0" marL="457200" rtl="0" algn="l">
              <a:lnSpc>
                <a:spcPct val="115000"/>
              </a:lnSpc>
              <a:spcBef>
                <a:spcPts val="1200"/>
              </a:spcBef>
              <a:spcAft>
                <a:spcPts val="0"/>
              </a:spcAft>
              <a:buSzPts val="2300"/>
              <a:buFont typeface="Arial"/>
              <a:buChar char="●"/>
            </a:pPr>
            <a:r>
              <a:rPr lang="en-US" sz="2300">
                <a:latin typeface="Arial"/>
                <a:ea typeface="Arial"/>
                <a:cs typeface="Arial"/>
                <a:sym typeface="Arial"/>
              </a:rPr>
              <a:t>Extrapolation → smooth, single forecast</a:t>
            </a:r>
            <a:endParaRPr sz="2300">
              <a:latin typeface="Arial"/>
              <a:ea typeface="Arial"/>
              <a:cs typeface="Arial"/>
              <a:sym typeface="Arial"/>
            </a:endParaRPr>
          </a:p>
          <a:p>
            <a:pPr indent="-374650" lvl="0" marL="457200" rtl="0" algn="l">
              <a:lnSpc>
                <a:spcPct val="115000"/>
              </a:lnSpc>
              <a:spcBef>
                <a:spcPts val="0"/>
              </a:spcBef>
              <a:spcAft>
                <a:spcPts val="0"/>
              </a:spcAft>
              <a:buSzPts val="2300"/>
              <a:buFont typeface="Arial"/>
              <a:buChar char="●"/>
            </a:pPr>
            <a:r>
              <a:rPr lang="en-US" sz="2300">
                <a:latin typeface="Arial"/>
                <a:ea typeface="Arial"/>
                <a:cs typeface="Arial"/>
                <a:sym typeface="Arial"/>
              </a:rPr>
              <a:t>STEPS → multiple realistic forecasts (ensemble)</a:t>
            </a:r>
            <a:endParaRPr sz="2300">
              <a:latin typeface="Arial"/>
              <a:ea typeface="Arial"/>
              <a:cs typeface="Arial"/>
              <a:sym typeface="Arial"/>
            </a:endParaRPr>
          </a:p>
          <a:p>
            <a:pPr indent="-374650" lvl="0" marL="457200" rtl="0" algn="l">
              <a:lnSpc>
                <a:spcPct val="115000"/>
              </a:lnSpc>
              <a:spcBef>
                <a:spcPts val="0"/>
              </a:spcBef>
              <a:spcAft>
                <a:spcPts val="0"/>
              </a:spcAft>
              <a:buSzPts val="2300"/>
              <a:buFont typeface="Arial"/>
              <a:buChar char="●"/>
            </a:pPr>
            <a:r>
              <a:rPr lang="en-US" sz="2300">
                <a:latin typeface="Arial"/>
                <a:ea typeface="Arial"/>
                <a:cs typeface="Arial"/>
                <a:sym typeface="Arial"/>
              </a:rPr>
              <a:t>Increased variability in STEPS</a:t>
            </a:r>
            <a:endParaRPr sz="2300">
              <a:latin typeface="Arial"/>
              <a:ea typeface="Arial"/>
              <a:cs typeface="Arial"/>
              <a:sym typeface="Arial"/>
            </a:endParaRPr>
          </a:p>
          <a:p>
            <a:pPr indent="0" lvl="0" marL="0" rtl="0" algn="l">
              <a:lnSpc>
                <a:spcPct val="115000"/>
              </a:lnSpc>
              <a:spcBef>
                <a:spcPts val="1200"/>
              </a:spcBef>
              <a:spcAft>
                <a:spcPts val="0"/>
              </a:spcAft>
              <a:buNone/>
            </a:pPr>
            <a:r>
              <a:rPr b="1" lang="en-US" sz="2300">
                <a:latin typeface="Arial"/>
                <a:ea typeface="Arial"/>
                <a:cs typeface="Arial"/>
                <a:sym typeface="Arial"/>
              </a:rPr>
              <a:t>2. Comparison Table</a:t>
            </a:r>
            <a:endParaRPr b="1" sz="2300">
              <a:latin typeface="Arial"/>
              <a:ea typeface="Arial"/>
              <a:cs typeface="Arial"/>
              <a:sym typeface="Arial"/>
            </a:endParaRPr>
          </a:p>
          <a:p>
            <a:pPr indent="0" lvl="0" marL="0" rtl="0" algn="l">
              <a:lnSpc>
                <a:spcPct val="100000"/>
              </a:lnSpc>
              <a:spcBef>
                <a:spcPts val="1200"/>
              </a:spcBef>
              <a:spcAft>
                <a:spcPts val="0"/>
              </a:spcAft>
              <a:buNone/>
            </a:pPr>
            <a:r>
              <a:t/>
            </a:r>
            <a:endParaRPr sz="1400">
              <a:solidFill>
                <a:srgbClr val="000000"/>
              </a:solidFill>
              <a:latin typeface="Arial"/>
              <a:ea typeface="Arial"/>
              <a:cs typeface="Arial"/>
              <a:sym typeface="Arial"/>
            </a:endParaRPr>
          </a:p>
          <a:p>
            <a:pPr indent="0" lvl="0" marL="914400" rtl="0" algn="l">
              <a:lnSpc>
                <a:spcPct val="115000"/>
              </a:lnSpc>
              <a:spcBef>
                <a:spcPts val="1200"/>
              </a:spcBef>
              <a:spcAft>
                <a:spcPts val="0"/>
              </a:spcAft>
              <a:buNone/>
            </a:pPr>
            <a:r>
              <a:t/>
            </a:r>
            <a:endParaRPr>
              <a:latin typeface="Arial"/>
              <a:ea typeface="Arial"/>
              <a:cs typeface="Arial"/>
              <a:sym typeface="Arial"/>
            </a:endParaRPr>
          </a:p>
          <a:p>
            <a:pPr indent="0" lvl="0" marL="0" rtl="0" algn="l">
              <a:lnSpc>
                <a:spcPct val="115000"/>
              </a:lnSpc>
              <a:spcBef>
                <a:spcPts val="1200"/>
              </a:spcBef>
              <a:spcAft>
                <a:spcPts val="0"/>
              </a:spcAft>
              <a:buNone/>
            </a:pPr>
            <a:r>
              <a:t/>
            </a:r>
            <a:endParaRPr b="1" sz="2300">
              <a:latin typeface="Arial"/>
              <a:ea typeface="Arial"/>
              <a:cs typeface="Arial"/>
              <a:sym typeface="Arial"/>
            </a:endParaRPr>
          </a:p>
          <a:p>
            <a:pPr indent="0" lvl="0" marL="457200" rtl="0" algn="l">
              <a:lnSpc>
                <a:spcPct val="115000"/>
              </a:lnSpc>
              <a:spcBef>
                <a:spcPts val="1200"/>
              </a:spcBef>
              <a:spcAft>
                <a:spcPts val="0"/>
              </a:spcAft>
              <a:buNone/>
            </a:pPr>
            <a:r>
              <a:t/>
            </a:r>
            <a:endParaRPr sz="23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228600" rtl="0" algn="l">
              <a:lnSpc>
                <a:spcPct val="180000"/>
              </a:lnSpc>
              <a:spcBef>
                <a:spcPts val="1200"/>
              </a:spcBef>
              <a:spcAft>
                <a:spcPts val="0"/>
              </a:spcAft>
              <a:buNone/>
            </a:pPr>
            <a:r>
              <a:t/>
            </a:r>
            <a:endParaRPr sz="2320"/>
          </a:p>
          <a:p>
            <a:pPr indent="-76200" lvl="0" marL="228600" rtl="0" algn="l">
              <a:lnSpc>
                <a:spcPct val="180000"/>
              </a:lnSpc>
              <a:spcBef>
                <a:spcPts val="1000"/>
              </a:spcBef>
              <a:spcAft>
                <a:spcPts val="0"/>
              </a:spcAft>
              <a:buClr>
                <a:schemeClr val="dk1"/>
              </a:buClr>
              <a:buSzPts val="2220"/>
              <a:buFont typeface="Helvetica Neue Light"/>
              <a:buNone/>
            </a:pPr>
            <a:r>
              <a:t/>
            </a:r>
            <a:endParaRPr sz="2320"/>
          </a:p>
        </p:txBody>
      </p:sp>
      <p:sp>
        <p:nvSpPr>
          <p:cNvPr id="228" name="Google Shape;228;p28"/>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1" lang="en-US"/>
              <a:t>|</a:t>
            </a:r>
            <a:r>
              <a:rPr lang="en-US"/>
              <a:t>  </a:t>
            </a:r>
            <a:fld id="{00000000-1234-1234-1234-123412341234}" type="slidenum">
              <a:rPr lang="en-US"/>
              <a:t>‹#›</a:t>
            </a:fld>
            <a:endParaRPr/>
          </a:p>
        </p:txBody>
      </p:sp>
      <p:sp>
        <p:nvSpPr>
          <p:cNvPr id="229" name="Google Shape;229;p28"/>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01/07/19</a:t>
            </a:r>
            <a:endParaRPr/>
          </a:p>
        </p:txBody>
      </p:sp>
      <p:pic>
        <p:nvPicPr>
          <p:cNvPr id="230" name="Google Shape;230;p28"/>
          <p:cNvPicPr preferRelativeResize="0"/>
          <p:nvPr/>
        </p:nvPicPr>
        <p:blipFill>
          <a:blip r:embed="rId3">
            <a:alphaModFix/>
          </a:blip>
          <a:stretch>
            <a:fillRect/>
          </a:stretch>
        </p:blipFill>
        <p:spPr>
          <a:xfrm>
            <a:off x="2734613" y="3881425"/>
            <a:ext cx="6234976" cy="2448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9"/>
          <p:cNvSpPr txBox="1"/>
          <p:nvPr>
            <p:ph type="title"/>
          </p:nvPr>
        </p:nvSpPr>
        <p:spPr>
          <a:xfrm>
            <a:off x="594303" y="26670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Results and Comparison</a:t>
            </a:r>
            <a:endParaRPr/>
          </a:p>
        </p:txBody>
      </p:sp>
      <p:sp>
        <p:nvSpPr>
          <p:cNvPr id="237" name="Google Shape;237;p29"/>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238" name="Google Shape;238;p29"/>
          <p:cNvPicPr preferRelativeResize="0"/>
          <p:nvPr/>
        </p:nvPicPr>
        <p:blipFill rotWithShape="1">
          <a:blip r:embed="rId3">
            <a:alphaModFix/>
          </a:blip>
          <a:srcRect b="17743" l="0" r="0" t="0"/>
          <a:stretch/>
        </p:blipFill>
        <p:spPr>
          <a:xfrm>
            <a:off x="1826527" y="1514773"/>
            <a:ext cx="8051150" cy="3828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0"/>
          <p:cNvSpPr txBox="1"/>
          <p:nvPr>
            <p:ph type="title"/>
          </p:nvPr>
        </p:nvSpPr>
        <p:spPr>
          <a:xfrm>
            <a:off x="594303" y="26670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Results and Comparison</a:t>
            </a:r>
            <a:endParaRPr/>
          </a:p>
        </p:txBody>
      </p:sp>
      <p:sp>
        <p:nvSpPr>
          <p:cNvPr id="245" name="Google Shape;245;p30"/>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246" name="Google Shape;246;p30"/>
          <p:cNvPicPr preferRelativeResize="0"/>
          <p:nvPr/>
        </p:nvPicPr>
        <p:blipFill>
          <a:blip r:embed="rId3">
            <a:alphaModFix/>
          </a:blip>
          <a:stretch>
            <a:fillRect/>
          </a:stretch>
        </p:blipFill>
        <p:spPr>
          <a:xfrm>
            <a:off x="0" y="1690850"/>
            <a:ext cx="2847975" cy="3209925"/>
          </a:xfrm>
          <a:prstGeom prst="rect">
            <a:avLst/>
          </a:prstGeom>
          <a:noFill/>
          <a:ln>
            <a:noFill/>
          </a:ln>
        </p:spPr>
      </p:pic>
      <p:pic>
        <p:nvPicPr>
          <p:cNvPr id="247" name="Google Shape;247;p30"/>
          <p:cNvPicPr preferRelativeResize="0"/>
          <p:nvPr/>
        </p:nvPicPr>
        <p:blipFill>
          <a:blip r:embed="rId4">
            <a:alphaModFix/>
          </a:blip>
          <a:stretch>
            <a:fillRect/>
          </a:stretch>
        </p:blipFill>
        <p:spPr>
          <a:xfrm>
            <a:off x="2975725" y="1676725"/>
            <a:ext cx="2847974" cy="3238184"/>
          </a:xfrm>
          <a:prstGeom prst="rect">
            <a:avLst/>
          </a:prstGeom>
          <a:noFill/>
          <a:ln>
            <a:noFill/>
          </a:ln>
        </p:spPr>
      </p:pic>
      <p:pic>
        <p:nvPicPr>
          <p:cNvPr id="248" name="Google Shape;248;p30"/>
          <p:cNvPicPr preferRelativeResize="0"/>
          <p:nvPr/>
        </p:nvPicPr>
        <p:blipFill>
          <a:blip r:embed="rId5">
            <a:alphaModFix/>
          </a:blip>
          <a:stretch>
            <a:fillRect/>
          </a:stretch>
        </p:blipFill>
        <p:spPr>
          <a:xfrm>
            <a:off x="9253869" y="1690850"/>
            <a:ext cx="2795405" cy="3209925"/>
          </a:xfrm>
          <a:prstGeom prst="rect">
            <a:avLst/>
          </a:prstGeom>
          <a:noFill/>
          <a:ln>
            <a:noFill/>
          </a:ln>
        </p:spPr>
      </p:pic>
      <p:pic>
        <p:nvPicPr>
          <p:cNvPr id="249" name="Google Shape;249;p30"/>
          <p:cNvPicPr preferRelativeResize="0"/>
          <p:nvPr/>
        </p:nvPicPr>
        <p:blipFill>
          <a:blip r:embed="rId6">
            <a:alphaModFix/>
          </a:blip>
          <a:stretch>
            <a:fillRect/>
          </a:stretch>
        </p:blipFill>
        <p:spPr>
          <a:xfrm>
            <a:off x="6347575" y="1734138"/>
            <a:ext cx="2795400" cy="3123345"/>
          </a:xfrm>
          <a:prstGeom prst="rect">
            <a:avLst/>
          </a:prstGeom>
          <a:noFill/>
          <a:ln>
            <a:noFill/>
          </a:ln>
        </p:spPr>
      </p:pic>
      <p:sp>
        <p:nvSpPr>
          <p:cNvPr id="250" name="Google Shape;250;p30"/>
          <p:cNvSpPr txBox="1"/>
          <p:nvPr/>
        </p:nvSpPr>
        <p:spPr>
          <a:xfrm>
            <a:off x="165188" y="4999225"/>
            <a:ext cx="2517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Helvetica Neue Light"/>
                <a:ea typeface="Helvetica Neue Light"/>
                <a:cs typeface="Helvetica Neue Light"/>
                <a:sym typeface="Helvetica Neue Light"/>
              </a:rPr>
              <a:t>Base paper Result</a:t>
            </a:r>
            <a:br>
              <a:rPr lang="en-US" sz="2300">
                <a:solidFill>
                  <a:schemeClr val="dk1"/>
                </a:solidFill>
                <a:latin typeface="Helvetica Neue Light"/>
                <a:ea typeface="Helvetica Neue Light"/>
                <a:cs typeface="Helvetica Neue Light"/>
                <a:sym typeface="Helvetica Neue Light"/>
              </a:rPr>
            </a:br>
            <a:r>
              <a:rPr lang="en-US" sz="2300">
                <a:solidFill>
                  <a:schemeClr val="dk1"/>
                </a:solidFill>
                <a:latin typeface="Helvetica Neue Light"/>
                <a:ea typeface="Helvetica Neue Light"/>
                <a:cs typeface="Helvetica Neue Light"/>
                <a:sym typeface="Helvetica Neue Light"/>
              </a:rPr>
              <a:t>(Deterministic)</a:t>
            </a:r>
            <a:endParaRPr sz="2300">
              <a:solidFill>
                <a:schemeClr val="dk1"/>
              </a:solidFill>
              <a:latin typeface="Helvetica Neue Light"/>
              <a:ea typeface="Helvetica Neue Light"/>
              <a:cs typeface="Helvetica Neue Light"/>
              <a:sym typeface="Helvetica Neue Light"/>
            </a:endParaRPr>
          </a:p>
        </p:txBody>
      </p:sp>
      <p:sp>
        <p:nvSpPr>
          <p:cNvPr id="251" name="Google Shape;251;p30"/>
          <p:cNvSpPr txBox="1"/>
          <p:nvPr/>
        </p:nvSpPr>
        <p:spPr>
          <a:xfrm>
            <a:off x="2899700" y="4999225"/>
            <a:ext cx="30000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2300">
                <a:solidFill>
                  <a:schemeClr val="dk1"/>
                </a:solidFill>
                <a:latin typeface="Helvetica Neue Light"/>
                <a:ea typeface="Helvetica Neue Light"/>
                <a:cs typeface="Helvetica Neue Light"/>
                <a:sym typeface="Helvetica Neue Light"/>
              </a:rPr>
              <a:t>Reproduced</a:t>
            </a:r>
            <a:r>
              <a:rPr lang="en-US" sz="2300">
                <a:solidFill>
                  <a:schemeClr val="dk1"/>
                </a:solidFill>
                <a:latin typeface="Helvetica Neue Light"/>
                <a:ea typeface="Helvetica Neue Light"/>
                <a:cs typeface="Helvetica Neue Light"/>
                <a:sym typeface="Helvetica Neue Light"/>
              </a:rPr>
              <a:t> Result</a:t>
            </a:r>
            <a:br>
              <a:rPr lang="en-US" sz="2300">
                <a:solidFill>
                  <a:schemeClr val="dk1"/>
                </a:solidFill>
                <a:latin typeface="Helvetica Neue Light"/>
                <a:ea typeface="Helvetica Neue Light"/>
                <a:cs typeface="Helvetica Neue Light"/>
                <a:sym typeface="Helvetica Neue Light"/>
              </a:rPr>
            </a:br>
            <a:r>
              <a:rPr lang="en-US" sz="2300">
                <a:solidFill>
                  <a:schemeClr val="dk1"/>
                </a:solidFill>
                <a:latin typeface="Helvetica Neue Light"/>
                <a:ea typeface="Helvetica Neue Light"/>
                <a:cs typeface="Helvetica Neue Light"/>
                <a:sym typeface="Helvetica Neue Light"/>
              </a:rPr>
              <a:t>(Deterministic)</a:t>
            </a:r>
            <a:endParaRPr sz="2300">
              <a:solidFill>
                <a:schemeClr val="dk1"/>
              </a:solidFill>
              <a:latin typeface="Helvetica Neue Light"/>
              <a:ea typeface="Helvetica Neue Light"/>
              <a:cs typeface="Helvetica Neue Light"/>
              <a:sym typeface="Helvetica Neue Light"/>
            </a:endParaRPr>
          </a:p>
        </p:txBody>
      </p:sp>
      <p:sp>
        <p:nvSpPr>
          <p:cNvPr id="252" name="Google Shape;252;p30"/>
          <p:cNvSpPr txBox="1"/>
          <p:nvPr/>
        </p:nvSpPr>
        <p:spPr>
          <a:xfrm>
            <a:off x="6347563" y="4999225"/>
            <a:ext cx="2517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Helvetica Neue Light"/>
                <a:ea typeface="Helvetica Neue Light"/>
                <a:cs typeface="Helvetica Neue Light"/>
                <a:sym typeface="Helvetica Neue Light"/>
              </a:rPr>
              <a:t>Base paper Result</a:t>
            </a:r>
            <a:br>
              <a:rPr lang="en-US" sz="2300">
                <a:solidFill>
                  <a:schemeClr val="dk1"/>
                </a:solidFill>
                <a:latin typeface="Helvetica Neue Light"/>
                <a:ea typeface="Helvetica Neue Light"/>
                <a:cs typeface="Helvetica Neue Light"/>
                <a:sym typeface="Helvetica Neue Light"/>
              </a:rPr>
            </a:br>
            <a:r>
              <a:rPr lang="en-US" sz="2300">
                <a:solidFill>
                  <a:schemeClr val="dk1"/>
                </a:solidFill>
                <a:latin typeface="Helvetica Neue Light"/>
                <a:ea typeface="Helvetica Neue Light"/>
                <a:cs typeface="Helvetica Neue Light"/>
                <a:sym typeface="Helvetica Neue Light"/>
              </a:rPr>
              <a:t>(Probabilistic)</a:t>
            </a:r>
            <a:endParaRPr sz="2300">
              <a:solidFill>
                <a:schemeClr val="dk1"/>
              </a:solidFill>
              <a:latin typeface="Helvetica Neue Light"/>
              <a:ea typeface="Helvetica Neue Light"/>
              <a:cs typeface="Helvetica Neue Light"/>
              <a:sym typeface="Helvetica Neue Light"/>
            </a:endParaRPr>
          </a:p>
        </p:txBody>
      </p:sp>
      <p:sp>
        <p:nvSpPr>
          <p:cNvPr id="253" name="Google Shape;253;p30"/>
          <p:cNvSpPr txBox="1"/>
          <p:nvPr/>
        </p:nvSpPr>
        <p:spPr>
          <a:xfrm>
            <a:off x="9082075" y="4999225"/>
            <a:ext cx="30000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Helvetica Neue Light"/>
                <a:ea typeface="Helvetica Neue Light"/>
                <a:cs typeface="Helvetica Neue Light"/>
                <a:sym typeface="Helvetica Neue Light"/>
              </a:rPr>
              <a:t>Reproduced Result</a:t>
            </a:r>
            <a:br>
              <a:rPr lang="en-US" sz="2300">
                <a:solidFill>
                  <a:schemeClr val="dk1"/>
                </a:solidFill>
                <a:latin typeface="Helvetica Neue Light"/>
                <a:ea typeface="Helvetica Neue Light"/>
                <a:cs typeface="Helvetica Neue Light"/>
                <a:sym typeface="Helvetica Neue Light"/>
              </a:rPr>
            </a:br>
            <a:r>
              <a:rPr lang="en-US" sz="2300">
                <a:solidFill>
                  <a:schemeClr val="dk1"/>
                </a:solidFill>
                <a:latin typeface="Helvetica Neue Light"/>
                <a:ea typeface="Helvetica Neue Light"/>
                <a:cs typeface="Helvetica Neue Light"/>
                <a:sym typeface="Helvetica Neue Light"/>
              </a:rPr>
              <a:t>(Probabilistic)</a:t>
            </a:r>
            <a:endParaRPr sz="2300">
              <a:solidFill>
                <a:schemeClr val="dk1"/>
              </a:solidFill>
              <a:latin typeface="Helvetica Neue Light"/>
              <a:ea typeface="Helvetica Neue Light"/>
              <a:cs typeface="Helvetica Neue Light"/>
              <a:sym typeface="Helvetica Neue Light"/>
            </a:endParaRPr>
          </a:p>
        </p:txBody>
      </p:sp>
      <p:cxnSp>
        <p:nvCxnSpPr>
          <p:cNvPr id="254" name="Google Shape;254;p30"/>
          <p:cNvCxnSpPr/>
          <p:nvPr/>
        </p:nvCxnSpPr>
        <p:spPr>
          <a:xfrm>
            <a:off x="6037425" y="1127675"/>
            <a:ext cx="27000" cy="51570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1"/>
          <p:cNvSpPr txBox="1"/>
          <p:nvPr>
            <p:ph type="title"/>
          </p:nvPr>
        </p:nvSpPr>
        <p:spPr>
          <a:xfrm>
            <a:off x="594303" y="26670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Results and Comparison</a:t>
            </a:r>
            <a:endParaRPr/>
          </a:p>
        </p:txBody>
      </p:sp>
      <p:sp>
        <p:nvSpPr>
          <p:cNvPr id="261" name="Google Shape;261;p31"/>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262" name="Google Shape;262;p31"/>
          <p:cNvPicPr preferRelativeResize="0"/>
          <p:nvPr/>
        </p:nvPicPr>
        <p:blipFill rotWithShape="1">
          <a:blip r:embed="rId3">
            <a:alphaModFix/>
          </a:blip>
          <a:srcRect b="17095" l="21034" r="19815" t="0"/>
          <a:stretch/>
        </p:blipFill>
        <p:spPr>
          <a:xfrm>
            <a:off x="6653675" y="1193987"/>
            <a:ext cx="5034325" cy="4470050"/>
          </a:xfrm>
          <a:prstGeom prst="rect">
            <a:avLst/>
          </a:prstGeom>
          <a:noFill/>
          <a:ln>
            <a:noFill/>
          </a:ln>
        </p:spPr>
      </p:pic>
      <p:pic>
        <p:nvPicPr>
          <p:cNvPr id="263" name="Google Shape;263;p31"/>
          <p:cNvPicPr preferRelativeResize="0"/>
          <p:nvPr/>
        </p:nvPicPr>
        <p:blipFill>
          <a:blip r:embed="rId4">
            <a:alphaModFix/>
          </a:blip>
          <a:stretch>
            <a:fillRect/>
          </a:stretch>
        </p:blipFill>
        <p:spPr>
          <a:xfrm>
            <a:off x="664725" y="1286040"/>
            <a:ext cx="5431275" cy="4285910"/>
          </a:xfrm>
          <a:prstGeom prst="rect">
            <a:avLst/>
          </a:prstGeom>
          <a:noFill/>
          <a:ln>
            <a:noFill/>
          </a:ln>
        </p:spPr>
      </p:pic>
      <p:sp>
        <p:nvSpPr>
          <p:cNvPr id="264" name="Google Shape;264;p31"/>
          <p:cNvSpPr txBox="1"/>
          <p:nvPr/>
        </p:nvSpPr>
        <p:spPr>
          <a:xfrm>
            <a:off x="0" y="5496475"/>
            <a:ext cx="71046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2800">
                <a:solidFill>
                  <a:schemeClr val="dk1"/>
                </a:solidFill>
                <a:latin typeface="Helvetica Neue Light"/>
                <a:ea typeface="Helvetica Neue Light"/>
                <a:cs typeface="Helvetica Neue Light"/>
                <a:sym typeface="Helvetica Neue Light"/>
              </a:rPr>
              <a:t>ROC curve</a:t>
            </a:r>
            <a:endParaRPr sz="28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None/>
            </a:pPr>
            <a:r>
              <a:rPr lang="en-US" sz="2800">
                <a:solidFill>
                  <a:schemeClr val="dk1"/>
                </a:solidFill>
                <a:latin typeface="Helvetica Neue Light"/>
                <a:ea typeface="Helvetica Neue Light"/>
                <a:cs typeface="Helvetica Neue Light"/>
                <a:sym typeface="Helvetica Neue Light"/>
              </a:rPr>
              <a:t>(Base Paper)</a:t>
            </a:r>
            <a:endParaRPr sz="2800">
              <a:solidFill>
                <a:schemeClr val="dk1"/>
              </a:solidFill>
              <a:latin typeface="Helvetica Neue Light"/>
              <a:ea typeface="Helvetica Neue Light"/>
              <a:cs typeface="Helvetica Neue Light"/>
              <a:sym typeface="Helvetica Neue Light"/>
            </a:endParaRPr>
          </a:p>
        </p:txBody>
      </p:sp>
      <p:sp>
        <p:nvSpPr>
          <p:cNvPr id="265" name="Google Shape;265;p31"/>
          <p:cNvSpPr txBox="1"/>
          <p:nvPr/>
        </p:nvSpPr>
        <p:spPr>
          <a:xfrm>
            <a:off x="6869400" y="5582775"/>
            <a:ext cx="49272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2800">
                <a:solidFill>
                  <a:schemeClr val="dk1"/>
                </a:solidFill>
                <a:latin typeface="Helvetica Neue Light"/>
                <a:ea typeface="Helvetica Neue Light"/>
                <a:cs typeface="Helvetica Neue Light"/>
                <a:sym typeface="Helvetica Neue Light"/>
              </a:rPr>
              <a:t>ROC curve</a:t>
            </a:r>
            <a:endParaRPr sz="2800">
              <a:solidFill>
                <a:schemeClr val="dk1"/>
              </a:solidFill>
              <a:latin typeface="Helvetica Neue Light"/>
              <a:ea typeface="Helvetica Neue Light"/>
              <a:cs typeface="Helvetica Neue Light"/>
              <a:sym typeface="Helvetica Neue Light"/>
            </a:endParaRPr>
          </a:p>
          <a:p>
            <a:pPr indent="0" lvl="0" marL="0" rtl="0" algn="ctr">
              <a:spcBef>
                <a:spcPts val="0"/>
              </a:spcBef>
              <a:spcAft>
                <a:spcPts val="0"/>
              </a:spcAft>
              <a:buNone/>
            </a:pPr>
            <a:r>
              <a:rPr lang="en-US" sz="2800">
                <a:solidFill>
                  <a:schemeClr val="dk1"/>
                </a:solidFill>
                <a:latin typeface="Helvetica Neue Light"/>
                <a:ea typeface="Helvetica Neue Light"/>
                <a:cs typeface="Helvetica Neue Light"/>
                <a:sym typeface="Helvetica Neue Light"/>
              </a:rPr>
              <a:t>(Reproduced result)</a:t>
            </a:r>
            <a:endParaRPr sz="28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2"/>
          <p:cNvSpPr txBox="1"/>
          <p:nvPr>
            <p:ph type="title"/>
          </p:nvPr>
        </p:nvSpPr>
        <p:spPr>
          <a:xfrm>
            <a:off x="594303" y="26670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Inference (Domain)</a:t>
            </a:r>
            <a:endParaRPr/>
          </a:p>
        </p:txBody>
      </p:sp>
      <p:sp>
        <p:nvSpPr>
          <p:cNvPr id="271" name="Google Shape;271;p32"/>
          <p:cNvSpPr txBox="1"/>
          <p:nvPr>
            <p:ph idx="1" type="body"/>
          </p:nvPr>
        </p:nvSpPr>
        <p:spPr>
          <a:xfrm>
            <a:off x="582427" y="1768950"/>
            <a:ext cx="10515600" cy="4351338"/>
          </a:xfrm>
          <a:prstGeom prst="rect">
            <a:avLst/>
          </a:prstGeom>
          <a:noFill/>
          <a:ln>
            <a:noFill/>
          </a:ln>
        </p:spPr>
        <p:txBody>
          <a:bodyPr anchorCtr="0" anchor="t" bIns="45700" lIns="91425" spcFirstLastPara="1" rIns="91425" wrap="square" tIns="45700">
            <a:noAutofit/>
          </a:bodyPr>
          <a:lstStyle/>
          <a:p>
            <a:pPr indent="-223520" lvl="0" marL="228600" rtl="0" algn="l">
              <a:lnSpc>
                <a:spcPct val="180000"/>
              </a:lnSpc>
              <a:spcBef>
                <a:spcPts val="0"/>
              </a:spcBef>
              <a:spcAft>
                <a:spcPts val="0"/>
              </a:spcAft>
              <a:buSzPts val="2320"/>
              <a:buChar char="•"/>
            </a:pPr>
            <a:r>
              <a:rPr lang="en-US" sz="2320"/>
              <a:t>Probabilistic forecasts enable risk-calibrated decisions</a:t>
            </a:r>
            <a:endParaRPr sz="2320"/>
          </a:p>
          <a:p>
            <a:pPr indent="-223520" lvl="0" marL="228600" rtl="0" algn="l">
              <a:lnSpc>
                <a:spcPct val="180000"/>
              </a:lnSpc>
              <a:spcBef>
                <a:spcPts val="0"/>
              </a:spcBef>
              <a:spcAft>
                <a:spcPts val="0"/>
              </a:spcAft>
              <a:buSzPts val="2320"/>
              <a:buChar char="•"/>
            </a:pPr>
            <a:r>
              <a:rPr lang="en-US" sz="2320"/>
              <a:t>Lagrangian persistence outperforms NWP in the 0–2 h window</a:t>
            </a:r>
            <a:endParaRPr sz="2320"/>
          </a:p>
          <a:p>
            <a:pPr indent="-223520" lvl="0" marL="228600" rtl="0" algn="l">
              <a:lnSpc>
                <a:spcPct val="180000"/>
              </a:lnSpc>
              <a:spcBef>
                <a:spcPts val="0"/>
              </a:spcBef>
              <a:spcAft>
                <a:spcPts val="0"/>
              </a:spcAft>
              <a:buSzPts val="2320"/>
              <a:buChar char="•"/>
            </a:pPr>
            <a:r>
              <a:rPr lang="en-US" sz="2320"/>
              <a:t>Cascade decomposition respects dynamic scaling of precipitation</a:t>
            </a:r>
            <a:endParaRPr sz="2320"/>
          </a:p>
          <a:p>
            <a:pPr indent="-223520" lvl="0" marL="228600" rtl="0" algn="l">
              <a:lnSpc>
                <a:spcPct val="180000"/>
              </a:lnSpc>
              <a:spcBef>
                <a:spcPts val="0"/>
              </a:spcBef>
              <a:spcAft>
                <a:spcPts val="0"/>
              </a:spcAft>
              <a:buSzPts val="2320"/>
              <a:buChar char="•"/>
            </a:pPr>
            <a:r>
              <a:rPr lang="en-US" sz="2320"/>
              <a:t>Ensemble spread quantifies forecast confidence spatially</a:t>
            </a:r>
            <a:endParaRPr sz="2320"/>
          </a:p>
          <a:p>
            <a:pPr indent="-223520" lvl="0" marL="228600" rtl="0" algn="l">
              <a:lnSpc>
                <a:spcPct val="180000"/>
              </a:lnSpc>
              <a:spcBef>
                <a:spcPts val="0"/>
              </a:spcBef>
              <a:spcAft>
                <a:spcPts val="0"/>
              </a:spcAft>
              <a:buSzPts val="2320"/>
              <a:buChar char="•"/>
            </a:pPr>
            <a:r>
              <a:rPr lang="en-US" sz="2320"/>
              <a:t>Multi-regime validation confirms cross-domain generalisability</a:t>
            </a:r>
            <a:endParaRPr sz="2320"/>
          </a:p>
        </p:txBody>
      </p:sp>
      <p:sp>
        <p:nvSpPr>
          <p:cNvPr id="272" name="Google Shape;272;p32"/>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1" lang="en-US"/>
              <a:t>|</a:t>
            </a:r>
            <a:r>
              <a:rPr lang="en-US"/>
              <a:t>  </a:t>
            </a:r>
            <a:fld id="{00000000-1234-1234-1234-123412341234}" type="slidenum">
              <a:rPr lang="en-US"/>
              <a:t>‹#›</a:t>
            </a:fld>
            <a:endParaRPr/>
          </a:p>
        </p:txBody>
      </p:sp>
      <p:sp>
        <p:nvSpPr>
          <p:cNvPr id="273" name="Google Shape;273;p32"/>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01/07/19</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3"/>
          <p:cNvSpPr txBox="1"/>
          <p:nvPr>
            <p:ph type="title"/>
          </p:nvPr>
        </p:nvSpPr>
        <p:spPr>
          <a:xfrm>
            <a:off x="594303" y="2667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a:t>Inference (Computer Science)</a:t>
            </a:r>
            <a:endParaRPr/>
          </a:p>
        </p:txBody>
      </p:sp>
      <p:sp>
        <p:nvSpPr>
          <p:cNvPr id="279" name="Google Shape;279;p33"/>
          <p:cNvSpPr txBox="1"/>
          <p:nvPr>
            <p:ph idx="1" type="body"/>
          </p:nvPr>
        </p:nvSpPr>
        <p:spPr>
          <a:xfrm>
            <a:off x="582427" y="1768950"/>
            <a:ext cx="10515600" cy="4351200"/>
          </a:xfrm>
          <a:prstGeom prst="rect">
            <a:avLst/>
          </a:prstGeom>
          <a:noFill/>
          <a:ln>
            <a:noFill/>
          </a:ln>
        </p:spPr>
        <p:txBody>
          <a:bodyPr anchorCtr="0" anchor="t" bIns="45700" lIns="91425" spcFirstLastPara="1" rIns="91425" wrap="square" tIns="45700">
            <a:noAutofit/>
          </a:bodyPr>
          <a:lstStyle/>
          <a:p>
            <a:pPr indent="-223520" lvl="0" marL="228600" rtl="0" algn="l">
              <a:lnSpc>
                <a:spcPct val="180000"/>
              </a:lnSpc>
              <a:spcBef>
                <a:spcPts val="0"/>
              </a:spcBef>
              <a:spcAft>
                <a:spcPts val="0"/>
              </a:spcAft>
              <a:buSzPts val="2320"/>
              <a:buChar char="•"/>
            </a:pPr>
            <a:r>
              <a:rPr lang="en-US" sz="2320"/>
              <a:t>Modularity enables easy experimentation</a:t>
            </a:r>
            <a:endParaRPr sz="2320"/>
          </a:p>
          <a:p>
            <a:pPr indent="-223520" lvl="0" marL="228600" rtl="0" algn="l">
              <a:lnSpc>
                <a:spcPct val="180000"/>
              </a:lnSpc>
              <a:spcBef>
                <a:spcPts val="0"/>
              </a:spcBef>
              <a:spcAft>
                <a:spcPts val="0"/>
              </a:spcAft>
              <a:buSzPts val="2320"/>
              <a:buChar char="•"/>
            </a:pPr>
            <a:r>
              <a:rPr lang="en-US" sz="2320"/>
              <a:t>FFT powers fast computations</a:t>
            </a:r>
            <a:endParaRPr sz="2320"/>
          </a:p>
          <a:p>
            <a:pPr indent="-223520" lvl="0" marL="228600" rtl="0" algn="l">
              <a:lnSpc>
                <a:spcPct val="180000"/>
              </a:lnSpc>
              <a:spcBef>
                <a:spcPts val="0"/>
              </a:spcBef>
              <a:spcAft>
                <a:spcPts val="0"/>
              </a:spcAft>
              <a:buSzPts val="2320"/>
              <a:buChar char="•"/>
            </a:pPr>
            <a:r>
              <a:rPr lang="en-US" sz="2320"/>
              <a:t>Noise generation as a generative model</a:t>
            </a:r>
            <a:endParaRPr sz="2320"/>
          </a:p>
          <a:p>
            <a:pPr indent="-223520" lvl="0" marL="228600" rtl="0" algn="l">
              <a:lnSpc>
                <a:spcPct val="180000"/>
              </a:lnSpc>
              <a:spcBef>
                <a:spcPts val="0"/>
              </a:spcBef>
              <a:spcAft>
                <a:spcPts val="0"/>
              </a:spcAft>
              <a:buSzPts val="2320"/>
              <a:buChar char="•"/>
            </a:pPr>
            <a:r>
              <a:rPr lang="en-US" sz="2320"/>
              <a:t>Ensemble methods allow parallel processing</a:t>
            </a:r>
            <a:endParaRPr sz="2320"/>
          </a:p>
          <a:p>
            <a:pPr indent="-223520" lvl="0" marL="228600" rtl="0" algn="l">
              <a:lnSpc>
                <a:spcPct val="180000"/>
              </a:lnSpc>
              <a:spcBef>
                <a:spcPts val="0"/>
              </a:spcBef>
              <a:spcAft>
                <a:spcPts val="0"/>
              </a:spcAft>
              <a:buSzPts val="2320"/>
              <a:buChar char="•"/>
            </a:pPr>
            <a:r>
              <a:rPr lang="en-US" sz="2320"/>
              <a:t>Built-in verification for model evaluation</a:t>
            </a:r>
            <a:endParaRPr sz="2320"/>
          </a:p>
          <a:p>
            <a:pPr indent="-76200" lvl="0" marL="228600" rtl="0" algn="l">
              <a:lnSpc>
                <a:spcPct val="180000"/>
              </a:lnSpc>
              <a:spcBef>
                <a:spcPts val="1000"/>
              </a:spcBef>
              <a:spcAft>
                <a:spcPts val="0"/>
              </a:spcAft>
              <a:buClr>
                <a:schemeClr val="dk1"/>
              </a:buClr>
              <a:buSzPts val="2220"/>
              <a:buFont typeface="Helvetica Neue Light"/>
              <a:buNone/>
            </a:pPr>
            <a:r>
              <a:t/>
            </a:r>
            <a:endParaRPr sz="2320"/>
          </a:p>
          <a:p>
            <a:pPr indent="-76200" lvl="0" marL="228600" rtl="0" algn="l">
              <a:lnSpc>
                <a:spcPct val="180000"/>
              </a:lnSpc>
              <a:spcBef>
                <a:spcPts val="1000"/>
              </a:spcBef>
              <a:spcAft>
                <a:spcPts val="0"/>
              </a:spcAft>
              <a:buClr>
                <a:schemeClr val="dk1"/>
              </a:buClr>
              <a:buSzPts val="2220"/>
              <a:buFont typeface="Helvetica Neue Light"/>
              <a:buNone/>
            </a:pPr>
            <a:r>
              <a:t/>
            </a:r>
            <a:endParaRPr sz="2320"/>
          </a:p>
        </p:txBody>
      </p:sp>
      <p:sp>
        <p:nvSpPr>
          <p:cNvPr id="280" name="Google Shape;280;p33"/>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1" lang="en-US"/>
              <a:t>|</a:t>
            </a:r>
            <a:r>
              <a:rPr lang="en-US"/>
              <a:t>  </a:t>
            </a:r>
            <a:fld id="{00000000-1234-1234-1234-123412341234}" type="slidenum">
              <a:rPr lang="en-US"/>
              <a:t>‹#›</a:t>
            </a:fld>
            <a:endParaRPr/>
          </a:p>
        </p:txBody>
      </p:sp>
      <p:sp>
        <p:nvSpPr>
          <p:cNvPr id="281" name="Google Shape;281;p33"/>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01/07/19</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4"/>
          <p:cNvSpPr txBox="1"/>
          <p:nvPr>
            <p:ph type="title"/>
          </p:nvPr>
        </p:nvSpPr>
        <p:spPr>
          <a:xfrm>
            <a:off x="3390725" y="3743525"/>
            <a:ext cx="6138300" cy="1140600"/>
          </a:xfrm>
          <a:prstGeom prst="rect">
            <a:avLst/>
          </a:prstGeom>
        </p:spPr>
        <p:txBody>
          <a:bodyPr anchorCtr="1" anchor="t" bIns="45700" lIns="91425" spcFirstLastPara="1" rIns="91425" wrap="square" tIns="45700">
            <a:noAutofit/>
          </a:bodyPr>
          <a:lstStyle/>
          <a:p>
            <a:pPr indent="0" lvl="0" marL="0" rtl="0" algn="l">
              <a:spcBef>
                <a:spcPts val="0"/>
              </a:spcBef>
              <a:spcAft>
                <a:spcPts val="0"/>
              </a:spcAft>
              <a:buNone/>
            </a:pPr>
            <a:r>
              <a:rPr lang="en-US" sz="7200"/>
              <a:t>THANK YOU</a:t>
            </a:r>
            <a:r>
              <a:rPr lang="en-US" sz="6000"/>
              <a:t> </a:t>
            </a:r>
            <a:endParaRPr sz="6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Ahmedabad University ">
      <a:dk1>
        <a:srgbClr val="000000"/>
      </a:dk1>
      <a:lt1>
        <a:srgbClr val="FFFFFF"/>
      </a:lt1>
      <a:dk2>
        <a:srgbClr val="7D1916"/>
      </a:dk2>
      <a:lt2>
        <a:srgbClr val="F2F1EE"/>
      </a:lt2>
      <a:accent1>
        <a:srgbClr val="894C00"/>
      </a:accent1>
      <a:accent2>
        <a:srgbClr val="7F4700"/>
      </a:accent2>
      <a:accent3>
        <a:srgbClr val="A5A5A5"/>
      </a:accent3>
      <a:accent4>
        <a:srgbClr val="BC933E"/>
      </a:accent4>
      <a:accent5>
        <a:srgbClr val="000000"/>
      </a:accent5>
      <a:accent6>
        <a:srgbClr val="FEFFFF"/>
      </a:accent6>
      <a:hlink>
        <a:srgbClr val="000000"/>
      </a:hlink>
      <a:folHlink>
        <a:srgbClr val="FE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