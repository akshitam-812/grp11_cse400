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mbria Math" panose="02040503050406030204" pitchFamily="18" charset="0"/>
      <p:regular r:id="rId15"/>
    </p:embeddedFont>
    <p:embeddedFont>
      <p:font typeface="Helvetica Neue" panose="020B0604020202020204" charset="0"/>
      <p:regular r:id="rId16"/>
      <p:bold r:id="rId17"/>
      <p:italic r:id="rId18"/>
      <p:boldItalic r:id="rId19"/>
    </p:embeddedFont>
    <p:embeddedFont>
      <p:font typeface="Helvetica Neue Ligh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96243ba74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c96243ba7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96243ba74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3c96243ba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96243ba74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c96243ba7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96243ba74_0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c96243ba74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96243ba74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c96243ba7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96b8f002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c96b8f00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96b8f002f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c96b8f00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96b8f002f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c96b8f002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96b8f002f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c96b8f002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844150" y="4710224"/>
            <a:ext cx="10515600" cy="552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sz="2000" b="0" i="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">
            <a:alphaModFix/>
          </a:blip>
          <a:srcRect l="31993" t="42026" r="32032" b="42109"/>
          <a:stretch/>
        </p:blipFill>
        <p:spPr>
          <a:xfrm>
            <a:off x="7430948" y="751519"/>
            <a:ext cx="3928803" cy="133324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44150" y="3784993"/>
            <a:ext cx="105159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sz="44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2">
            <a:alphaModFix/>
          </a:blip>
          <a:srcRect l="29656" t="38311" r="29480" b="38398"/>
          <a:stretch/>
        </p:blipFill>
        <p:spPr>
          <a:xfrm>
            <a:off x="358814" y="6038948"/>
            <a:ext cx="1365809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●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○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■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●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○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l="29656" t="38311" r="29480" b="38398"/>
          <a:stretch/>
        </p:blipFill>
        <p:spPr>
          <a:xfrm>
            <a:off x="358814" y="6038948"/>
            <a:ext cx="1365809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844150" y="4553000"/>
            <a:ext cx="10515600" cy="1059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CSE 400 – Fundamentals of Probability in Computing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SEAS, Ahmedabad University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444848"/>
              </a:buClr>
              <a:buSzPct val="100000"/>
              <a:buFont typeface="Helvetica Neue Light"/>
              <a:buNone/>
            </a:pPr>
            <a:r>
              <a:rPr lang="en-US" dirty="0"/>
              <a:t>Milestone-4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2"/>
          </p:nvPr>
        </p:nvSpPr>
        <p:spPr>
          <a:xfrm>
            <a:off x="920150" y="3443043"/>
            <a:ext cx="105159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0000" lnSpcReduction="20000"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SzPct val="100000"/>
            </a:pPr>
            <a:r>
              <a:rPr lang="en-US" dirty="0"/>
              <a:t>Randomized Algorithm for Precipitation Nowcasting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760747" y="697339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Project Context and Motivation</a:t>
            </a:r>
            <a:endParaRPr dirty="0">
              <a:solidFill>
                <a:srgbClr val="666666"/>
              </a:solidFill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98AA1A-6B4F-984E-0A45-07C7F37F1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96131" y="1928590"/>
            <a:ext cx="4782078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Project: Precipitation Nowcasting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Domain: Radar-based rainfall forecasting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Predict future rainfall field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systems are uncertain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Deterministic models ignore variability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779207" y="670668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IN" dirty="0"/>
              <a:t>Deterministic Baseline Overview</a:t>
            </a:r>
            <a:endParaRPr dirty="0">
              <a:solidFill>
                <a:srgbClr val="666666"/>
              </a:solidFill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AD07EA1-6F6B-FEF8-D304-4CAC1D2BB2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6276" y="1704181"/>
            <a:ext cx="4262705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Lagrangian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persistence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Rainfall advected using velocity field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randomness → single forecast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 </a:t>
            </a:r>
            <a:endParaRPr lang="en-US" altLang="en-US" sz="19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-&gt;No uncertainty modeling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-&gt;Ignores storm growth/decay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-&gt;Errors increase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665082" y="669530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System Pipeline Overview</a:t>
            </a:r>
            <a:endParaRPr dirty="0">
              <a:solidFill>
                <a:srgbClr val="666666"/>
              </a:solidFill>
            </a:endParaRPr>
          </a:p>
        </p:txBody>
      </p:sp>
      <p:sp>
        <p:nvSpPr>
          <p:cNvPr id="98" name="Google Shape;98;p1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DD679E-E133-AD99-2AFC-065DBE6DE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0435" y="1928589"/>
            <a:ext cx="3542958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Radar data → preprocessing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Motion estimation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Advection step (decision rule)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29151-B71C-4201-0C16-11E89561C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303" y="5084151"/>
            <a:ext cx="9232375" cy="889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731250" y="787517"/>
            <a:ext cx="105156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IN" dirty="0"/>
              <a:t>Sources of Uncertainty</a:t>
            </a:r>
            <a:endParaRPr dirty="0">
              <a:solidFill>
                <a:srgbClr val="666666"/>
              </a:solidFill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EDA375-DAFA-C26A-C484-1FD807393C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8703" y="2020922"/>
            <a:ext cx="3243196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900" dirty="0">
                <a:solidFill>
                  <a:schemeClr val="tx1"/>
                </a:solidFill>
                <a:latin typeface="+mn-lt"/>
              </a:rPr>
              <a:t>Radar</a:t>
            </a:r>
            <a:r>
              <a:rPr lang="en-IN" sz="1900" dirty="0">
                <a:latin typeface="+mn-lt"/>
              </a:rPr>
              <a:t> </a:t>
            </a:r>
            <a:r>
              <a:rPr lang="en-IN" sz="1900" dirty="0">
                <a:solidFill>
                  <a:schemeClr val="tx1"/>
                </a:solidFill>
                <a:latin typeface="+mn-lt"/>
              </a:rPr>
              <a:t>measurement noise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900" dirty="0">
                <a:solidFill>
                  <a:schemeClr val="tx1"/>
                </a:solidFill>
                <a:latin typeface="+mn-lt"/>
              </a:rPr>
              <a:t>Motion estimation errors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900" dirty="0">
              <a:solidFill>
                <a:schemeClr val="tx1"/>
              </a:solidFill>
              <a:latin typeface="+mn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900" dirty="0">
                <a:solidFill>
                  <a:schemeClr val="tx1"/>
                </a:solidFill>
                <a:latin typeface="+mn-lt"/>
              </a:rPr>
              <a:t>Atmospheric variability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900" dirty="0">
              <a:solidFill>
                <a:schemeClr val="tx1"/>
              </a:solidFill>
              <a:latin typeface="+mn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900" dirty="0">
                <a:solidFill>
                  <a:schemeClr val="tx1"/>
                </a:solidFill>
                <a:latin typeface="+mn-lt"/>
              </a:rPr>
              <a:t>Intensity changes over time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710843" y="507194"/>
            <a:ext cx="105156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</a:pPr>
            <a:r>
              <a:rPr lang="en-US" sz="3600" dirty="0">
                <a:solidFill>
                  <a:schemeClr val="bg2"/>
                </a:solidFill>
              </a:rPr>
              <a:t>Random Variables in the System</a:t>
            </a:r>
            <a:endParaRPr sz="3600" dirty="0">
              <a:solidFill>
                <a:schemeClr val="bg2"/>
              </a:solidFill>
            </a:endParaRPr>
          </a:p>
        </p:txBody>
      </p:sp>
      <p:sp>
        <p:nvSpPr>
          <p:cNvPr id="114" name="Google Shape;114;p2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065DB9-E30B-ABB9-F6E2-F3D64AD13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6885" y="1583615"/>
            <a:ext cx="3219151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Velocity field perturbation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Rainfall intensity variation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variables introduced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Distributions: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-&gt;Gaussian (intensity)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-&gt;Laplace (motion)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FD2B3-27B5-9BE5-3F99-18E29A59AB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39080" y="1220605"/>
            <a:ext cx="7189840" cy="31455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423DD8-B1DA-FE7B-896F-AE5CB2993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643" y="4579757"/>
            <a:ext cx="4288753" cy="1893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567713" y="250904"/>
            <a:ext cx="694413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</a:pPr>
            <a:r>
              <a:rPr lang="en-IN" sz="3600" dirty="0">
                <a:solidFill>
                  <a:schemeClr val="bg2"/>
                </a:solidFill>
              </a:rPr>
              <a:t>Randomized Algorithm Design</a:t>
            </a:r>
            <a:endParaRPr sz="3600" dirty="0">
              <a:solidFill>
                <a:schemeClr val="bg2"/>
              </a:solidFill>
            </a:endParaRPr>
          </a:p>
        </p:txBody>
      </p:sp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7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6B9C5E7-11BE-F021-E637-A38D9C43A27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1104133" y="1874731"/>
                <a:ext cx="4440639" cy="31085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IN" sz="1900" dirty="0">
                    <a:solidFill>
                      <a:schemeClr val="tx1"/>
                    </a:solidFill>
                  </a:rPr>
                  <a:t>Modify deterministic advection rule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IN" sz="1900" dirty="0">
                  <a:solidFill>
                    <a:schemeClr val="tx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IN" sz="1900" dirty="0">
                    <a:solidFill>
                      <a:schemeClr val="tx1"/>
                    </a:solidFill>
                  </a:rPr>
                  <a:t>Add noise to motion field:</a:t>
                </a:r>
                <a:br>
                  <a:rPr lang="en-IN" sz="190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ar-AE" sz="19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 sz="19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9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sepChr m:val=","/>
                        <m:ctrlP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 sz="19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9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sepChr m:val=","/>
                        <m:ctrlP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IN" sz="1900" dirty="0">
                  <a:solidFill>
                    <a:schemeClr val="tx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US" sz="1900" dirty="0">
                    <a:solidFill>
                      <a:schemeClr val="tx1"/>
                    </a:solidFill>
                  </a:rPr>
                  <a:t>Apply perturbed velocity in advection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sz="1900" dirty="0">
                  <a:solidFill>
                    <a:schemeClr val="tx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IN" sz="1900" dirty="0">
                    <a:solidFill>
                      <a:schemeClr val="tx1"/>
                    </a:solidFill>
                  </a:rPr>
                  <a:t>Generate multiple forecast realizations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IN" sz="1900" dirty="0">
                  <a:solidFill>
                    <a:schemeClr val="tx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lang="en-IN" sz="1900" dirty="0">
                    <a:solidFill>
                      <a:schemeClr val="tx1"/>
                    </a:solidFill>
                  </a:rPr>
                  <a:t>Use ensemble approach</a:t>
                </a:r>
                <a:r>
                  <a:rPr kumimoji="0" lang="en-US" altLang="en-US" sz="1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6B9C5E7-11BE-F021-E637-A38D9C43A2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 bwMode="auto">
              <a:xfrm>
                <a:off x="1104133" y="1874731"/>
                <a:ext cx="4440639" cy="3108543"/>
              </a:xfrm>
              <a:prstGeom prst="rect">
                <a:avLst/>
              </a:prstGeom>
              <a:blipFill>
                <a:blip r:embed="rId3"/>
                <a:stretch>
                  <a:fillRect l="-960" b="-2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503881" y="0"/>
            <a:ext cx="97216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ct val="30555"/>
            </a:pPr>
            <a:r>
              <a:rPr lang="en-US" sz="3600" dirty="0">
                <a:solidFill>
                  <a:schemeClr val="bg2"/>
                </a:solidFill>
              </a:rPr>
              <a:t>Probabilistic Reasoning Behind the Algorithm</a:t>
            </a:r>
            <a:endParaRPr sz="3600" dirty="0">
              <a:solidFill>
                <a:schemeClr val="bg2"/>
              </a:solidFill>
            </a:endParaRPr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670783" y="2026161"/>
            <a:ext cx="6044649" cy="28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solidFill>
                  <a:schemeClr val="tx1"/>
                </a:solidFill>
              </a:rPr>
              <a:t>Weather systems are stochastic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5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solidFill>
                  <a:schemeClr val="tx1"/>
                </a:solidFill>
              </a:rPr>
              <a:t>Randomness captures variability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5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solidFill>
                  <a:schemeClr val="tx1"/>
                </a:solidFill>
              </a:rPr>
              <a:t>Ensemble reduces prediction bias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5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solidFill>
                  <a:schemeClr val="tx1"/>
                </a:solidFill>
              </a:rPr>
              <a:t>Improves robustness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5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500" dirty="0">
                <a:solidFill>
                  <a:schemeClr val="tx1"/>
                </a:solidFill>
              </a:rPr>
              <a:t>Avoids overconfident predictions</a:t>
            </a:r>
            <a:endParaRPr lang="en-US" altLang="en-US" sz="2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|</a:t>
            </a:r>
            <a:r>
              <a:rPr lang="en-US" dirty="0"/>
              <a:t>  </a:t>
            </a:r>
            <a:fld id="{00000000-1234-1234-1234-123412341234}" type="slidenum">
              <a:rPr lang="en-US"/>
              <a:t>8</a:t>
            </a:fld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14D967-C5BF-7421-83A5-4456C10992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3890" y="1476835"/>
            <a:ext cx="6862153" cy="3904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/>
        </p:nvSpPr>
        <p:spPr>
          <a:xfrm>
            <a:off x="-297426" y="339213"/>
            <a:ext cx="1080073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n-US" sz="3600" dirty="0">
                <a:solidFill>
                  <a:schemeClr val="bg2"/>
                </a:solidFill>
              </a:rPr>
              <a:t>Implementation of the Randomized Strategy</a:t>
            </a:r>
            <a:endParaRPr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71C05F-F3E4-606A-8E41-57BCD21B7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057" y="1482213"/>
            <a:ext cx="47019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Input radar rainfall field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Estimate motion field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Sample noise (Gaussian / Laplace)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Perturb motion field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 Perform advection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6: Repeat for multiple runs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7: Aggregate outputs (mean / spread) </a:t>
            </a:r>
          </a:p>
        </p:txBody>
      </p:sp>
      <p:sp>
        <p:nvSpPr>
          <p:cNvPr id="3" name="Google Shape;130;p23">
            <a:extLst>
              <a:ext uri="{FF2B5EF4-FFF2-40B4-BE49-F238E27FC236}">
                <a16:creationId xmlns:a16="http://schemas.microsoft.com/office/drawing/2014/main" id="{D651AF14-AE71-3534-0214-F70A85C24C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|</a:t>
            </a:r>
            <a:r>
              <a:rPr lang="en-US" dirty="0"/>
              <a:t>  </a:t>
            </a:r>
            <a:fld id="{00000000-1234-1234-1234-123412341234}" type="slidenum">
              <a:rPr lang="en-US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-1278193" y="66287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n-IN" sz="3600" dirty="0">
                <a:solidFill>
                  <a:schemeClr val="bg2"/>
                </a:solidFill>
              </a:rPr>
              <a:t>Evaluation Metrics</a:t>
            </a:r>
            <a:endParaRPr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271FA2-1321-1140-DCCD-C8104BC93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375" y="2081221"/>
            <a:ext cx="313739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Squared Error (MSE)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 / MAE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spread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F2D142-E743-F94E-8B15-BD4873DE7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53433" y="1132817"/>
            <a:ext cx="4945625" cy="4592366"/>
          </a:xfrm>
          <a:prstGeom prst="rect">
            <a:avLst/>
          </a:prstGeom>
        </p:spPr>
      </p:pic>
      <p:sp>
        <p:nvSpPr>
          <p:cNvPr id="5" name="Google Shape;130;p23">
            <a:extLst>
              <a:ext uri="{FF2B5EF4-FFF2-40B4-BE49-F238E27FC236}">
                <a16:creationId xmlns:a16="http://schemas.microsoft.com/office/drawing/2014/main" id="{ABE6FE8E-D888-5075-0CC4-07FEEE5AB0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|</a:t>
            </a:r>
            <a:r>
              <a:rPr lang="en-US" dirty="0"/>
              <a:t>  </a:t>
            </a:r>
            <a:fld id="{00000000-1234-1234-1234-123412341234}" type="slidenum">
              <a:rPr lang="en-US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/>
        </p:nvSpPr>
        <p:spPr>
          <a:xfrm>
            <a:off x="-1120963" y="4426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n-IN" sz="3600" dirty="0">
                <a:solidFill>
                  <a:schemeClr val="bg2"/>
                </a:solidFill>
              </a:rPr>
              <a:t>Comparative Results</a:t>
            </a:r>
            <a:endParaRPr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657AC8-3B00-E957-2C0E-11806C700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78" y="1568638"/>
            <a:ext cx="333296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Deterministic: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-&gt;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accuracy (short-term)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-&gt;No uncertainty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-&gt;Better reliability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-&gt;Captures variability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-&gt;Improved robustness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0E988-BDCD-2B49-F00D-F88B34CBC2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9130" y="113497"/>
            <a:ext cx="5756789" cy="32381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2A786-CC39-1F0B-D96C-D99C07761F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49130" y="3479721"/>
            <a:ext cx="5524500" cy="3143250"/>
          </a:xfrm>
          <a:prstGeom prst="rect">
            <a:avLst/>
          </a:prstGeom>
        </p:spPr>
      </p:pic>
      <p:sp>
        <p:nvSpPr>
          <p:cNvPr id="6" name="Google Shape;130;p23">
            <a:extLst>
              <a:ext uri="{FF2B5EF4-FFF2-40B4-BE49-F238E27FC236}">
                <a16:creationId xmlns:a16="http://schemas.microsoft.com/office/drawing/2014/main" id="{6443B799-3843-C876-7118-E6B846EAD2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73630" y="6434271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|</a:t>
            </a:r>
            <a:r>
              <a:rPr lang="en-US" dirty="0"/>
              <a:t>  </a:t>
            </a:r>
            <a:fld id="{00000000-1234-1234-1234-123412341234}" type="slidenum">
              <a:rPr lang="en-US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/>
        </p:nvSpPr>
        <p:spPr>
          <a:xfrm>
            <a:off x="-1853380" y="55334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/>
            <a:r>
              <a:rPr lang="en-IN" sz="3600" dirty="0">
                <a:solidFill>
                  <a:schemeClr val="bg2"/>
                </a:solidFill>
              </a:rPr>
              <a:t>Key Insights</a:t>
            </a:r>
            <a:endParaRPr sz="3600" dirty="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1622029" y="5161655"/>
            <a:ext cx="4863832" cy="34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buSzPts val="3200"/>
              <a:buChar char="•"/>
            </a:pPr>
            <a:endParaRPr lang="en-IN" sz="25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713D47-9250-B2C4-8880-3E8B77CFD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119" y="1789837"/>
            <a:ext cx="41376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Randomization improves realism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gives better understanding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Trade-off: accuracy vs reliability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uncertain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improvement over baseline </a:t>
            </a:r>
          </a:p>
        </p:txBody>
      </p:sp>
      <p:sp>
        <p:nvSpPr>
          <p:cNvPr id="4" name="Google Shape;130;p23">
            <a:extLst>
              <a:ext uri="{FF2B5EF4-FFF2-40B4-BE49-F238E27FC236}">
                <a16:creationId xmlns:a16="http://schemas.microsoft.com/office/drawing/2014/main" id="{DC454BFD-2AD8-FA19-79EB-25910726FA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|</a:t>
            </a:r>
            <a:r>
              <a:rPr lang="en-US" dirty="0"/>
              <a:t>  </a:t>
            </a:r>
            <a:fld id="{00000000-1234-1234-1234-123412341234}" type="slidenum">
              <a:rPr lang="en-US"/>
              <a:t>12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333</Words>
  <Application>Microsoft Office PowerPoint</Application>
  <PresentationFormat>Widescreen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Helvetica Neue Light</vt:lpstr>
      <vt:lpstr>Helvetica Neue</vt:lpstr>
      <vt:lpstr>Simple Light</vt:lpstr>
      <vt:lpstr>PowerPoint Presentation</vt:lpstr>
      <vt:lpstr>Project Context and Motivation</vt:lpstr>
      <vt:lpstr>Deterministic Baseline Overview</vt:lpstr>
      <vt:lpstr>System Pipeline Overview</vt:lpstr>
      <vt:lpstr>Sources of Uncertainty</vt:lpstr>
      <vt:lpstr>Random Variables in the System</vt:lpstr>
      <vt:lpstr>Randomized Algorithm Design</vt:lpstr>
      <vt:lpstr>Probabilistic Reasoning Behind the Algorithm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modi jenil</cp:lastModifiedBy>
  <cp:revision>5</cp:revision>
  <dcterms:modified xsi:type="dcterms:W3CDTF">2026-03-27T15:05:23Z</dcterms:modified>
</cp:coreProperties>
</file>