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  <p:embeddedFont>
      <p:font typeface="Helvetica Neue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24" Type="http://schemas.openxmlformats.org/officeDocument/2006/relationships/font" Target="fonts/HelveticaNeueLight-bold.fntdata"/><Relationship Id="rId23" Type="http://schemas.openxmlformats.org/officeDocument/2006/relationships/font" Target="fonts/HelveticaNeue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boldItalic.fntdata"/><Relationship Id="rId25" Type="http://schemas.openxmlformats.org/officeDocument/2006/relationships/font" Target="fonts/HelveticaNeue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HelveticaNeue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96243ba7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c96243ba7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96243ba7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96243ba7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96243ba7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c96243ba7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96243ba74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96243ba74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96243ba74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c96243ba74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96b8f002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96b8f002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96b8f002f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c96b8f002f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96b8f002f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96b8f002f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96b8f002f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96b8f002f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5946a7450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5946a7450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5946a7450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5946a7450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5946a7450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c5946a7450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844150" y="4710224"/>
            <a:ext cx="10515600" cy="552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42109" l="31993" r="32032" t="42026"/>
          <a:stretch/>
        </p:blipFill>
        <p:spPr>
          <a:xfrm>
            <a:off x="7430948" y="751519"/>
            <a:ext cx="3928803" cy="13332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44150" y="3784993"/>
            <a:ext cx="105159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/>
          </a:blip>
          <a:srcRect b="38398" l="29656" r="29480" t="38311"/>
          <a:stretch/>
        </p:blipFill>
        <p:spPr>
          <a:xfrm>
            <a:off x="358814" y="6038948"/>
            <a:ext cx="1365809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●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○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■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●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○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38398" l="29656" r="29480" t="38311"/>
          <a:stretch/>
        </p:blipFill>
        <p:spPr>
          <a:xfrm>
            <a:off x="358814" y="6038948"/>
            <a:ext cx="1365809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844150" y="4553000"/>
            <a:ext cx="10515600" cy="1059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CSE 400 – Fundamentals of Probability in Computing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SEAS, Ahmedabad University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444848"/>
              </a:buClr>
              <a:buSzPct val="100000"/>
              <a:buFont typeface="Helvetica Neue Light"/>
              <a:buNone/>
            </a:pPr>
            <a:r>
              <a:rPr lang="en-US"/>
              <a:t>Milestone-3</a:t>
            </a:r>
            <a:endParaRPr/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920150" y="3443043"/>
            <a:ext cx="105159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Deterministic Baseline Model for Rainfall Nowcasting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731250" y="7875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Project Context and Motivation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831850" y="2073600"/>
            <a:ext cx="105156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Quantitative Precipitation Nowcasting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Short‑term rainfall prediction (0–6 hours)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radar observations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Atmosphere is chaotic → uncertainty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697725" y="8378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Project Objective and Deterministic Baseline</a:t>
            </a:r>
            <a:endParaRPr sz="4400">
              <a:solidFill>
                <a:srgbClr val="666666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838200" y="2073600"/>
            <a:ext cx="105156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•Forecast rainfall intensity field R(x,t)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•Use radar observations Z1:t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•Baseline: Lagrangian Persistence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•Assumes rainfall intensity stays constant while moving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655250" y="7875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System Pipeline Overview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831850" y="2073600"/>
            <a:ext cx="105156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Radar time‑series input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dBR transformation preprocessing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Optical flow motion estimation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Semi‑Lagrangian advection forecast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731250" y="7875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Sources of Uncertainty</a:t>
            </a:r>
            <a:endParaRPr sz="4400">
              <a:solidFill>
                <a:srgbClr val="666666"/>
              </a:solidFill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838200" y="2146200"/>
            <a:ext cx="10515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Atmospheric chaos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Radar measurement noise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Velocity estimation error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Unmodeled storm growth/decay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594300" y="905519"/>
            <a:ext cx="105156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 Random Variables</a:t>
            </a:r>
            <a:endParaRPr sz="4400">
              <a:solidFill>
                <a:srgbClr val="666666"/>
              </a:solidFill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672275" y="2064375"/>
            <a:ext cx="10515600" cy="4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</a:rPr>
              <a:t>R</a:t>
            </a:r>
            <a:r>
              <a:rPr lang="en-US" sz="2500">
                <a:solidFill>
                  <a:schemeClr val="dk1"/>
                </a:solidFill>
              </a:rPr>
              <a:t>ainfall intensity R(x,t)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</a:rPr>
              <a:t>Velocity field V(x,t)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</a:rPr>
              <a:t>Innovation variable N(x,t)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-US" sz="2500">
                <a:solidFill>
                  <a:schemeClr val="dk1"/>
                </a:solidFill>
              </a:rPr>
              <a:t>Log‑normal rainfall assumption</a:t>
            </a:r>
            <a:endParaRPr sz="2500">
              <a:solidFill>
                <a:schemeClr val="dk1"/>
              </a:solidFill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587378" y="4475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Probabilistic Modeling with Deterministic Decisions</a:t>
            </a:r>
            <a:endParaRPr sz="4400">
              <a:solidFill>
                <a:srgbClr val="666666"/>
              </a:solidFill>
            </a:endParaRPr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672275" y="2121350"/>
            <a:ext cx="105156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•Stochastic PDE governs rainfall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•Baseline sets N(x,t)=0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•Velocity held constant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•Advection equation drives forecast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2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Deterministic Baseline Logic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 sz="3600">
              <a:solidFill>
                <a:srgbClr val="7F7F7F"/>
              </a:solidFill>
            </a:endParaRPr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672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 velocity field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 rainfall to dBR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semi‑Lagrangian advection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Iterate forecast across lead times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Simulation Implementation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pysteps Python library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Modules: IO, motion, extrapolation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6‑hour forecast horizon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Pipeline executed sequentially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Results: Forecast Error Growth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RMSE increases with lead time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 highest in first hour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Errors grow as atmosphere evolves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mse_graph.png"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1242625"/>
            <a:ext cx="4837126" cy="3916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Results: Skill Score Degradation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CSI metric evaluates rainfall detection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Skill decreases as lead time increases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Predictability limit around 80 minutes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si_graph.png" id="151" name="Google Shape;1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1025" y="2071917"/>
            <a:ext cx="4464575" cy="35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Forecast Error Distribution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1664788" y="15881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PDF of forecast error widens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Uncertainty increases with time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Deterministic model cannot represent spread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df_error.png" id="160" name="Google Shape;1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0900" y="3547350"/>
            <a:ext cx="5545899" cy="297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67" name="Google Shape;167;p28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Limitations of Deterministic Strategy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Frozen velocity field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storm growth/decay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Zero‑inflation rainfall issue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uncertainty quantification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457200" y="3404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Summary and Next Step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Deterministic model provides baseline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Forecast skill declines rapidly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forecast cannot capture uncertainty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Next stage: randomized ensemble nowcasting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